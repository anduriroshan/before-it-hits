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8" r:id="rId3"/>
    <p:sldId id="259" r:id="rId4"/>
    <p:sldId id="260" r:id="rId5"/>
    <p:sldId id="261" r:id="rId6"/>
    <p:sldId id="263" r:id="rId7"/>
    <p:sldId id="264" r:id="rId8"/>
    <p:sldId id="265" r:id="rId9"/>
    <p:sldId id="266" r:id="rId10"/>
    <p:sldId id="267" r:id="rId11"/>
    <p:sldId id="268" r:id="rId12"/>
    <p:sldId id="269" r:id="rId13"/>
    <p:sldId id="271" r:id="rId14"/>
  </p:sldIdLst>
  <p:sldSz cx="9144000" cy="5143500" type="screen16x9"/>
  <p:notesSz cx="6858000" cy="9144000"/>
  <p:embeddedFontLst>
    <p:embeddedFont>
      <p:font typeface="Google Sans Flex" panose="020B0604020202020204" charset="0"/>
      <p:regular r:id="rId16"/>
      <p:bold r:id="rId17"/>
    </p:embeddedFont>
    <p:embeddedFont>
      <p:font typeface="Google Sans Flex Medium" panose="020B0604020202020204" charset="0"/>
      <p:regular r:id="rId18"/>
      <p:bold r:id="rId19"/>
    </p:embeddedFont>
    <p:embeddedFont>
      <p:font typeface="Google Sans Flex SemiBold" panose="020B060402020202020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58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fb085bff3c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fb085bff3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b085bff3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b085bff3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b085bff3c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b085bff3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b085bff3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b085bff3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b085bff3c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b085bff3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085bff3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b085bff3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b085bff3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b085bff3c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b085bff3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b085bff3c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b085bff3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b085bff3c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b085bff3c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b085bff3c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b085bff3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b085bff3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fb085bff3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before-it-hits-z5r5gsxkza-el.a.run.app/"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youtu.be/dL2FW3YUnB8" TargetMode="External"/><Relationship Id="rId5" Type="http://schemas.openxmlformats.org/officeDocument/2006/relationships/hyperlink" Target="https://github.com/anduriroshan/before-it-hits" TargetMode="Externa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0" y="2715523"/>
            <a:ext cx="8760000" cy="200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dirty="0">
                <a:latin typeface="Google Sans Flex SemiBold"/>
                <a:ea typeface="Google Sans Flex SemiBold"/>
                <a:cs typeface="Google Sans Flex SemiBold"/>
                <a:sym typeface="Google Sans Flex SemiBold"/>
              </a:rPr>
              <a:t>Team Details</a:t>
            </a:r>
            <a:endParaRPr sz="2100" dirty="0">
              <a:latin typeface="Google Sans Flex SemiBold"/>
              <a:ea typeface="Google Sans Flex SemiBold"/>
              <a:cs typeface="Google Sans Flex SemiBold"/>
              <a:sym typeface="Google Sans Flex SemiBold"/>
            </a:endParaRPr>
          </a:p>
          <a:p>
            <a:pPr marL="0" lvl="0" indent="0" algn="l" rtl="0">
              <a:spcBef>
                <a:spcPts val="0"/>
              </a:spcBef>
              <a:spcAft>
                <a:spcPts val="0"/>
              </a:spcAft>
              <a:buNone/>
            </a:pPr>
            <a:endParaRPr sz="1800" dirty="0">
              <a:latin typeface="Google Sans Flex Medium"/>
              <a:ea typeface="Google Sans Flex Medium"/>
              <a:cs typeface="Google Sans Flex Medium"/>
              <a:sym typeface="Google Sans Flex Medium"/>
            </a:endParaRPr>
          </a:p>
          <a:p>
            <a:pPr marL="914400" lvl="1" indent="-342900" algn="l" rtl="0">
              <a:spcBef>
                <a:spcPts val="0"/>
              </a:spcBef>
              <a:spcAft>
                <a:spcPts val="0"/>
              </a:spcAft>
              <a:buSzPts val="1800"/>
              <a:buFont typeface="Google Sans Flex"/>
              <a:buAutoNum type="alphaLcPeriod"/>
            </a:pPr>
            <a:r>
              <a:rPr lang="en-GB" dirty="0">
                <a:latin typeface="Google Sans Flex"/>
                <a:ea typeface="Google Sans Flex"/>
                <a:cs typeface="Google Sans Flex"/>
                <a:sym typeface="Google Sans Flex"/>
              </a:rPr>
              <a:t>Team name: </a:t>
            </a:r>
            <a:r>
              <a:rPr dirty="0">
                <a:solidFill>
                  <a:srgbClr val="262A2E"/>
                </a:solidFill>
                <a:latin typeface="Google Sans Flex Medium"/>
              </a:rPr>
              <a:t> </a:t>
            </a:r>
            <a:r>
              <a:rPr lang="en-US" dirty="0">
                <a:solidFill>
                  <a:srgbClr val="262A2E"/>
                </a:solidFill>
                <a:latin typeface="Google Sans Flex Medium"/>
              </a:rPr>
              <a:t>localhost8000</a:t>
            </a:r>
          </a:p>
          <a:p>
            <a:pPr marL="914400" lvl="1" indent="-342900" algn="l" rtl="0">
              <a:spcBef>
                <a:spcPts val="0"/>
              </a:spcBef>
              <a:spcAft>
                <a:spcPts val="0"/>
              </a:spcAft>
              <a:buSzPts val="1800"/>
              <a:buFont typeface="Google Sans Flex"/>
              <a:buAutoNum type="alphaLcPeriod"/>
            </a:pPr>
            <a:r>
              <a:rPr lang="en-GB" dirty="0">
                <a:latin typeface="Google Sans Flex"/>
                <a:ea typeface="Google Sans Flex"/>
                <a:cs typeface="Google Sans Flex"/>
                <a:sym typeface="Google Sans Flex"/>
              </a:rPr>
              <a:t>Team leader name: </a:t>
            </a:r>
            <a:r>
              <a:rPr dirty="0">
                <a:solidFill>
                  <a:srgbClr val="262A2E"/>
                </a:solidFill>
                <a:latin typeface="Google Sans Flex Medium"/>
              </a:rPr>
              <a:t> </a:t>
            </a:r>
            <a:r>
              <a:rPr lang="en-US" dirty="0">
                <a:solidFill>
                  <a:srgbClr val="262A2E"/>
                </a:solidFill>
                <a:latin typeface="Google Sans Flex Medium"/>
              </a:rPr>
              <a:t>Anduri Roshan</a:t>
            </a:r>
            <a:endParaRPr dirty="0">
              <a:latin typeface="Google Sans Flex"/>
              <a:ea typeface="Google Sans Flex"/>
              <a:cs typeface="Google Sans Flex"/>
              <a:sym typeface="Google Sans Flex"/>
            </a:endParaRPr>
          </a:p>
          <a:p>
            <a:pPr marL="914400" lvl="1" indent="-342900" algn="l" rtl="0">
              <a:spcBef>
                <a:spcPts val="0"/>
              </a:spcBef>
              <a:spcAft>
                <a:spcPts val="0"/>
              </a:spcAft>
              <a:buSzPts val="1800"/>
              <a:buFont typeface="Google Sans Flex"/>
              <a:buAutoNum type="alphaLcPeriod"/>
            </a:pPr>
            <a:r>
              <a:rPr lang="en-GB" dirty="0">
                <a:latin typeface="Google Sans Flex"/>
                <a:ea typeface="Google Sans Flex"/>
                <a:cs typeface="Google Sans Flex"/>
                <a:sym typeface="Google Sans Flex"/>
              </a:rPr>
              <a:t>Problem Statement: </a:t>
            </a:r>
            <a:r>
              <a:rPr dirty="0">
                <a:solidFill>
                  <a:srgbClr val="262A2E"/>
                </a:solidFill>
                <a:latin typeface="Google Sans Flex Medium"/>
              </a:rPr>
              <a:t> Sustainability &amp; Social Impact. Letting anyone ask their own </a:t>
            </a:r>
            <a:r>
              <a:rPr dirty="0" err="1">
                <a:solidFill>
                  <a:srgbClr val="262A2E"/>
                </a:solidFill>
                <a:latin typeface="Google Sans Flex Medium"/>
              </a:rPr>
              <a:t>neighbourhood</a:t>
            </a:r>
            <a:r>
              <a:rPr dirty="0">
                <a:solidFill>
                  <a:srgbClr val="262A2E"/>
                </a:solidFill>
                <a:latin typeface="Google Sans Flex Medium"/>
              </a:rPr>
              <a:t> about the hazards around it, rain and flooding, heat stress, wind, earthquake shaking and air quality, and get an answer they can trust, built on the public data and official maps that agencies already publish.</a:t>
            </a:r>
            <a:endParaRPr dirty="0">
              <a:latin typeface="Google Sans Flex"/>
              <a:ea typeface="Google Sans Flex"/>
              <a:cs typeface="Google Sans Flex"/>
              <a:sym typeface="Google Sans Flex"/>
            </a:endParaRPr>
          </a:p>
          <a:p>
            <a:pPr marL="0" lvl="0" indent="0" algn="l" rtl="0">
              <a:spcBef>
                <a:spcPts val="0"/>
              </a:spcBef>
              <a:spcAft>
                <a:spcPts val="0"/>
              </a:spcAft>
              <a:buNone/>
            </a:pPr>
            <a:endParaRPr sz="1800" dirty="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5"/>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65760" y="1325880"/>
            <a:ext cx="8412480" cy="3383280"/>
          </a:xfrm>
          <a:prstGeom prst="rect">
            <a:avLst/>
          </a:prstGeom>
          <a:noFill/>
        </p:spPr>
        <p:txBody>
          <a:bodyPr wrap="square">
            <a:noAutofit/>
          </a:bodyPr>
          <a:lstStyle/>
          <a:p>
            <a:pPr>
              <a:spcBef>
                <a:spcPts val="0"/>
              </a:spcBef>
              <a:spcAft>
                <a:spcPts val="400"/>
              </a:spcAft>
            </a:pPr>
            <a:r>
              <a:rPr sz="1200" b="0">
                <a:solidFill>
                  <a:srgbClr val="262A2E"/>
                </a:solidFill>
                <a:latin typeface="Google Sans Flex Medium"/>
              </a:rPr>
              <a:t>Before It Hits lets you hold a conversation with your own neighbourhood. Not only about storms: where rainwater will collect on your street, how hard the heat will sit on it, which way the wind will blow, how the ground would shake, how clean the air is, and which roads go under first.</a:t>
            </a:r>
          </a:p>
          <a:p>
            <a:pPr>
              <a:spcBef>
                <a:spcPts val="0"/>
              </a:spcBef>
              <a:spcAft>
                <a:spcPts val="400"/>
              </a:spcAft>
            </a:pPr>
            <a:r>
              <a:rPr sz="1200" b="0">
                <a:solidFill>
                  <a:srgbClr val="262A2E"/>
                </a:solidFill>
                <a:latin typeface="Google Sans Flex Medium"/>
              </a:rPr>
              <a:t>Meteorological agencies and disaster authorities already do this well at the regional and city scale, and their forecasts and official flood maps are the authoritative sources this product builds on and checks itself against. Before It Hits adds the last step: it takes that public data (terrain, roads, population, live weather) and turns it into a block-level screening that anyone can open and read, then ask follow-up questions about in plain language.</a:t>
            </a:r>
          </a:p>
          <a:p>
            <a:pPr>
              <a:spcBef>
                <a:spcPts val="0"/>
              </a:spcBef>
              <a:spcAft>
                <a:spcPts val="400"/>
              </a:spcAft>
            </a:pPr>
            <a:r>
              <a:rPr sz="1200" b="0">
                <a:solidFill>
                  <a:srgbClr val="262A2E"/>
                </a:solidFill>
                <a:latin typeface="Google Sans Flex Medium"/>
              </a:rPr>
              <a:t>Its defining choice: no language model ever invents a number. A deterministic engine computes every figure; the Gemini agents only interpret the question and explain the result. A verifier agent checks that every number traces back to the engine, and the product openly refuses what it cannot honestly claim, such as exact depths, timing, casualties or dispatch.</a:t>
            </a:r>
          </a:p>
          <a:p>
            <a:pPr>
              <a:spcBef>
                <a:spcPts val="0"/>
              </a:spcBef>
              <a:spcAft>
                <a:spcPts val="400"/>
              </a:spcAft>
            </a:pPr>
            <a:r>
              <a:rPr sz="1200" b="0">
                <a:solidFill>
                  <a:srgbClr val="262A2E"/>
                </a:solidFill>
                <a:latin typeface="Google Sans Flex Medium"/>
              </a:rPr>
              <a:t>Useful to a resident and to a city team alike, and to other software agents through the same verified interface.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6"/>
          <p:cNvSpPr txBox="1"/>
          <p:nvPr/>
        </p:nvSpPr>
        <p:spPr>
          <a:xfrm>
            <a:off x="265350" y="663825"/>
            <a:ext cx="8943000" cy="136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SemiBold"/>
                <a:ea typeface="Google Sans Flex SemiBold"/>
                <a:cs typeface="Google Sans Flex SemiBold"/>
                <a:sym typeface="Google Sans Flex SemiBold"/>
              </a:rPr>
              <a:t>Opportunities</a:t>
            </a:r>
            <a:br>
              <a:rPr lang="en-GB" sz="1600" dirty="0">
                <a:latin typeface="Google Sans Flex SemiBold"/>
                <a:ea typeface="Google Sans Flex SemiBold"/>
                <a:cs typeface="Google Sans Flex SemiBold"/>
                <a:sym typeface="Google Sans Flex SemiBold"/>
              </a:rPr>
            </a:br>
            <a:endParaRPr sz="1600" dirty="0">
              <a:latin typeface="Google Sans Flex SemiBold"/>
              <a:ea typeface="Google Sans Flex SemiBold"/>
              <a:cs typeface="Google Sans Flex SemiBold"/>
              <a:sym typeface="Google Sans Flex SemiBold"/>
            </a:endParaRP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p:txBody>
      </p:sp>
      <p:sp>
        <p:nvSpPr>
          <p:cNvPr id="80" name="TextBox 79"/>
          <p:cNvSpPr txBox="1"/>
          <p:nvPr/>
        </p:nvSpPr>
        <p:spPr>
          <a:xfrm>
            <a:off x="351210" y="1346925"/>
            <a:ext cx="8412480" cy="2788920"/>
          </a:xfrm>
          <a:prstGeom prst="rect">
            <a:avLst/>
          </a:prstGeom>
          <a:noFill/>
        </p:spPr>
        <p:txBody>
          <a:bodyPr wrap="square">
            <a:noAutofit/>
          </a:bodyPr>
          <a:lstStyle/>
          <a:p>
            <a:pPr>
              <a:spcBef>
                <a:spcPts val="700"/>
              </a:spcBef>
              <a:spcAft>
                <a:spcPts val="200"/>
              </a:spcAft>
            </a:pPr>
            <a:r>
              <a:rPr sz="1150" b="1" dirty="0">
                <a:solidFill>
                  <a:srgbClr val="056F9E"/>
                </a:solidFill>
                <a:latin typeface="Google Sans Flex Medium"/>
              </a:rPr>
              <a:t>Who it is for</a:t>
            </a:r>
          </a:p>
          <a:p>
            <a:pPr>
              <a:spcBef>
                <a:spcPts val="0"/>
              </a:spcBef>
              <a:spcAft>
                <a:spcPts val="400"/>
              </a:spcAft>
            </a:pPr>
            <a:r>
              <a:rPr sz="1050" b="0" dirty="0">
                <a:solidFill>
                  <a:srgbClr val="262A2E"/>
                </a:solidFill>
                <a:latin typeface="Google Sans Flex Medium"/>
              </a:rPr>
              <a:t>•  Anyone: a resident checking their own street, a parent deciding a school run, a shop owner, a volunteer.</a:t>
            </a:r>
          </a:p>
          <a:p>
            <a:pPr>
              <a:spcBef>
                <a:spcPts val="0"/>
              </a:spcBef>
              <a:spcAft>
                <a:spcPts val="400"/>
              </a:spcAft>
            </a:pPr>
            <a:r>
              <a:rPr sz="1050" b="0" dirty="0">
                <a:solidFill>
                  <a:srgbClr val="262A2E"/>
                </a:solidFill>
                <a:latin typeface="Google Sans Flex Medium"/>
              </a:rPr>
              <a:t>•  City teams, NGOs and other software agents use the very same verified interface. The goal is easier access for everyone, not a replacement for anybody.</a:t>
            </a:r>
          </a:p>
          <a:p>
            <a:pPr>
              <a:spcBef>
                <a:spcPts val="700"/>
              </a:spcBef>
              <a:spcAft>
                <a:spcPts val="200"/>
              </a:spcAft>
            </a:pPr>
            <a:r>
              <a:rPr sz="1150" b="1" dirty="0">
                <a:solidFill>
                  <a:srgbClr val="056F9E"/>
                </a:solidFill>
                <a:latin typeface="Google Sans Flex Medium"/>
              </a:rPr>
              <a:t>How it is different</a:t>
            </a:r>
          </a:p>
          <a:p>
            <a:pPr>
              <a:spcBef>
                <a:spcPts val="0"/>
              </a:spcBef>
              <a:spcAft>
                <a:spcPts val="400"/>
              </a:spcAft>
            </a:pPr>
            <a:r>
              <a:rPr sz="1050" b="0" dirty="0">
                <a:solidFill>
                  <a:srgbClr val="262A2E"/>
                </a:solidFill>
                <a:latin typeface="Google Sans Flex Medium"/>
              </a:rPr>
              <a:t>•  A regional forecast tells you how much rain will fall, or how hot it will get. This tells you what that does street by street, across five hazards, in one place.</a:t>
            </a:r>
          </a:p>
          <a:p>
            <a:pPr>
              <a:spcBef>
                <a:spcPts val="0"/>
              </a:spcBef>
              <a:spcAft>
                <a:spcPts val="400"/>
              </a:spcAft>
            </a:pPr>
            <a:r>
              <a:rPr sz="1050" b="0" dirty="0">
                <a:solidFill>
                  <a:srgbClr val="262A2E"/>
                </a:solidFill>
                <a:latin typeface="Google Sans Flex Medium"/>
              </a:rPr>
              <a:t>•  Official flood maps are authoritative but are published for planning. This runs live against today's forecast, and is checked against those maps where they exist.</a:t>
            </a:r>
          </a:p>
          <a:p>
            <a:pPr>
              <a:spcBef>
                <a:spcPts val="0"/>
              </a:spcBef>
              <a:spcAft>
                <a:spcPts val="400"/>
              </a:spcAft>
            </a:pPr>
            <a:r>
              <a:rPr sz="1050" b="0" dirty="0">
                <a:solidFill>
                  <a:srgbClr val="262A2E"/>
                </a:solidFill>
                <a:latin typeface="Google Sans Flex Medium"/>
              </a:rPr>
              <a:t>•  Block-level, deterministic, explained in plain language, and explicit about its own limits.</a:t>
            </a:r>
          </a:p>
          <a:p>
            <a:pPr>
              <a:spcBef>
                <a:spcPts val="700"/>
              </a:spcBef>
              <a:spcAft>
                <a:spcPts val="200"/>
              </a:spcAft>
            </a:pPr>
            <a:r>
              <a:rPr sz="1150" b="1" dirty="0">
                <a:solidFill>
                  <a:srgbClr val="056F9E"/>
                </a:solidFill>
                <a:latin typeface="Google Sans Flex Medium"/>
              </a:rPr>
              <a:t>How it solves the problem, and the USP</a:t>
            </a:r>
          </a:p>
          <a:p>
            <a:pPr>
              <a:spcBef>
                <a:spcPts val="0"/>
              </a:spcBef>
              <a:spcAft>
                <a:spcPts val="400"/>
              </a:spcAft>
            </a:pPr>
            <a:r>
              <a:rPr sz="1050" b="0" dirty="0">
                <a:solidFill>
                  <a:srgbClr val="262A2E"/>
                </a:solidFill>
                <a:latin typeface="Google Sans Flex Medium"/>
              </a:rPr>
              <a:t>•  Turns data a city already publishes into something a non-expert can act on, with no new sensors.</a:t>
            </a:r>
          </a:p>
          <a:p>
            <a:pPr>
              <a:spcBef>
                <a:spcPts val="0"/>
              </a:spcBef>
              <a:spcAft>
                <a:spcPts val="400"/>
              </a:spcAft>
            </a:pPr>
            <a:r>
              <a:rPr sz="1050" b="0" dirty="0">
                <a:solidFill>
                  <a:srgbClr val="262A2E"/>
                </a:solidFill>
                <a:latin typeface="Google Sans Flex Medium"/>
              </a:rPr>
              <a:t>•  “No model ever produces a figure”, enforced in code by a deterministic engine plus a verifier agent.</a:t>
            </a:r>
          </a:p>
          <a:p>
            <a:pPr>
              <a:spcBef>
                <a:spcPts val="0"/>
              </a:spcBef>
              <a:spcAft>
                <a:spcPts val="400"/>
              </a:spcAft>
            </a:pPr>
            <a:r>
              <a:rPr sz="1050" b="0" dirty="0">
                <a:solidFill>
                  <a:srgbClr val="262A2E"/>
                </a:solidFill>
                <a:latin typeface="Google Sans Flex Medium"/>
              </a:rPr>
              <a:t>•  Two-tier honesty: screening anywhere, validated against the official government flood map in Kochi. It refuses the unknowable instead of guessing.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17"/>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TextBox 87"/>
          <p:cNvSpPr txBox="1"/>
          <p:nvPr/>
        </p:nvSpPr>
        <p:spPr>
          <a:xfrm>
            <a:off x="365760" y="1325880"/>
            <a:ext cx="8412480" cy="3383280"/>
          </a:xfrm>
          <a:prstGeom prst="rect">
            <a:avLst/>
          </a:prstGeom>
          <a:noFill/>
        </p:spPr>
        <p:txBody>
          <a:bodyPr wrap="square">
            <a:noAutofit/>
          </a:bodyPr>
          <a:lstStyle/>
          <a:p>
            <a:pPr>
              <a:spcBef>
                <a:spcPts val="0"/>
              </a:spcBef>
              <a:spcAft>
                <a:spcPts val="400"/>
              </a:spcAft>
            </a:pPr>
            <a:r>
              <a:rPr sz="1150" b="0" dirty="0">
                <a:solidFill>
                  <a:srgbClr val="262A2E"/>
                </a:solidFill>
                <a:latin typeface="Google Sans Flex Medium"/>
              </a:rPr>
              <a:t>•  Flood pooling screening: ranks where rainwater collects (1 to 5) over public terrain data.</a:t>
            </a:r>
          </a:p>
          <a:p>
            <a:pPr>
              <a:spcBef>
                <a:spcPts val="0"/>
              </a:spcBef>
              <a:spcAft>
                <a:spcPts val="400"/>
              </a:spcAft>
            </a:pPr>
            <a:r>
              <a:rPr sz="1150" b="0" dirty="0">
                <a:solidFill>
                  <a:srgbClr val="262A2E"/>
                </a:solidFill>
                <a:latin typeface="Google Sans Flex Medium"/>
              </a:rPr>
              <a:t>•  Forecast time bar: watch the low spots fill and roads go under as the rain accumulates.</a:t>
            </a:r>
          </a:p>
          <a:p>
            <a:pPr>
              <a:spcBef>
                <a:spcPts val="0"/>
              </a:spcBef>
              <a:spcAft>
                <a:spcPts val="400"/>
              </a:spcAft>
            </a:pPr>
            <a:r>
              <a:rPr sz="1150" b="0" dirty="0">
                <a:solidFill>
                  <a:srgbClr val="262A2E"/>
                </a:solidFill>
                <a:latin typeface="Google Sans Flex Medium"/>
              </a:rPr>
              <a:t>•  Plain-language questions: ask “will my street flood tonight?” and get a checked answer.</a:t>
            </a:r>
          </a:p>
          <a:p>
            <a:pPr>
              <a:spcBef>
                <a:spcPts val="0"/>
              </a:spcBef>
              <a:spcAft>
                <a:spcPts val="400"/>
              </a:spcAft>
            </a:pPr>
            <a:r>
              <a:rPr sz="1150" b="0" dirty="0">
                <a:solidFill>
                  <a:srgbClr val="262A2E"/>
                </a:solidFill>
                <a:latin typeface="Google Sans Flex Medium"/>
              </a:rPr>
              <a:t>•  Population exposure: roughly how many people are in the worst spots (GHS-POP).</a:t>
            </a:r>
          </a:p>
          <a:p>
            <a:pPr>
              <a:spcBef>
                <a:spcPts val="0"/>
              </a:spcBef>
              <a:spcAft>
                <a:spcPts val="400"/>
              </a:spcAft>
            </a:pPr>
            <a:r>
              <a:rPr sz="1150" b="0" dirty="0">
                <a:solidFill>
                  <a:srgbClr val="262A2E"/>
                </a:solidFill>
                <a:latin typeface="Google Sans Flex Medium"/>
              </a:rPr>
              <a:t>•  Live rainfall forecast (Google Weather API), animated across the next 24 hours.</a:t>
            </a:r>
          </a:p>
          <a:p>
            <a:pPr>
              <a:spcBef>
                <a:spcPts val="0"/>
              </a:spcBef>
              <a:spcAft>
                <a:spcPts val="400"/>
              </a:spcAft>
            </a:pPr>
            <a:r>
              <a:rPr sz="1150" b="0" dirty="0">
                <a:solidFill>
                  <a:srgbClr val="262A2E"/>
                </a:solidFill>
                <a:latin typeface="Google Sans Flex Medium"/>
              </a:rPr>
              <a:t>•  Heat (Google Weather plus Landsat surface heat) and air quality (Google Air Quality API).</a:t>
            </a:r>
          </a:p>
          <a:p>
            <a:pPr>
              <a:spcBef>
                <a:spcPts val="0"/>
              </a:spcBef>
              <a:spcAft>
                <a:spcPts val="400"/>
              </a:spcAft>
            </a:pPr>
            <a:r>
              <a:rPr sz="1150" b="0" dirty="0">
                <a:solidFill>
                  <a:srgbClr val="262A2E"/>
                </a:solidFill>
                <a:latin typeface="Google Sans Flex Medium"/>
              </a:rPr>
              <a:t>•  Honest answers: a verifier rejects any unsupported number, and any hedging odds word.</a:t>
            </a:r>
          </a:p>
          <a:p>
            <a:pPr>
              <a:spcBef>
                <a:spcPts val="0"/>
              </a:spcBef>
              <a:spcAft>
                <a:spcPts val="400"/>
              </a:spcAft>
            </a:pPr>
            <a:r>
              <a:rPr sz="1150" b="0" dirty="0">
                <a:solidFill>
                  <a:srgbClr val="262A2E"/>
                </a:solidFill>
                <a:latin typeface="Google Sans Flex Medium"/>
              </a:rPr>
              <a:t>•  Preparations within budget: a costed, ranked list for whoever is doing the planning.</a:t>
            </a:r>
          </a:p>
          <a:p>
            <a:pPr>
              <a:spcBef>
                <a:spcPts val="0"/>
              </a:spcBef>
              <a:spcAft>
                <a:spcPts val="400"/>
              </a:spcAft>
            </a:pPr>
            <a:r>
              <a:rPr sz="1150" b="0" dirty="0">
                <a:solidFill>
                  <a:srgbClr val="262A2E"/>
                </a:solidFill>
                <a:latin typeface="Google Sans Flex Medium"/>
              </a:rPr>
              <a:t>•  Event-driven Watcher: publishes preparation alerts to Pub/Sub on a schedule.</a:t>
            </a:r>
          </a:p>
          <a:p>
            <a:pPr>
              <a:spcBef>
                <a:spcPts val="0"/>
              </a:spcBef>
              <a:spcAft>
                <a:spcPts val="400"/>
              </a:spcAft>
            </a:pPr>
            <a:r>
              <a:rPr sz="1150" b="0" dirty="0">
                <a:solidFill>
                  <a:srgbClr val="262A2E"/>
                </a:solidFill>
                <a:latin typeface="Google Sans Flex Medium"/>
              </a:rPr>
              <a:t>•  Compare against the government's official flood map (validated tier, Kochi).</a:t>
            </a:r>
          </a:p>
          <a:p>
            <a:pPr>
              <a:spcBef>
                <a:spcPts val="0"/>
              </a:spcBef>
              <a:spcAft>
                <a:spcPts val="400"/>
              </a:spcAft>
            </a:pPr>
            <a:r>
              <a:rPr sz="1150" b="0" dirty="0">
                <a:solidFill>
                  <a:srgbClr val="262A2E"/>
                </a:solidFill>
                <a:latin typeface="Google Sans Flex Medium"/>
              </a:rPr>
              <a:t>•  Agent interoperability: an MCP server (/</a:t>
            </a:r>
            <a:r>
              <a:rPr sz="1150" b="0" dirty="0" err="1">
                <a:solidFill>
                  <a:srgbClr val="262A2E"/>
                </a:solidFill>
                <a:latin typeface="Google Sans Flex Medium"/>
              </a:rPr>
              <a:t>mcp</a:t>
            </a:r>
            <a:r>
              <a:rPr sz="1150" b="0" dirty="0">
                <a:solidFill>
                  <a:srgbClr val="262A2E"/>
                </a:solidFill>
                <a:latin typeface="Google Sans Flex Medium"/>
              </a:rPr>
              <a:t>) and an A2A agent (/a2a) over the same engine.</a:t>
            </a:r>
          </a:p>
          <a:p>
            <a:pPr>
              <a:spcBef>
                <a:spcPts val="0"/>
              </a:spcBef>
              <a:spcAft>
                <a:spcPts val="400"/>
              </a:spcAft>
            </a:pPr>
            <a:r>
              <a:rPr sz="1150" b="0" dirty="0">
                <a:solidFill>
                  <a:srgbClr val="262A2E"/>
                </a:solidFill>
                <a:latin typeface="Google Sans Flex Medium"/>
              </a:rPr>
              <a:t>•  Earthquake shaking exposure, and local news context (GDELT).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8"/>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Process flow diagram</a:t>
            </a:r>
            <a:endParaRPr sz="1600" dirty="0">
              <a:latin typeface="Google Sans Flex Medium"/>
              <a:ea typeface="Google Sans Flex Medium"/>
              <a:cs typeface="Google Sans Flex Medium"/>
              <a:sym typeface="Google Sans Flex Medium"/>
            </a:endParaRPr>
          </a:p>
        </p:txBody>
      </p:sp>
      <p:sp>
        <p:nvSpPr>
          <p:cNvPr id="96" name="TextBox 95"/>
          <p:cNvSpPr txBox="1"/>
          <p:nvPr/>
        </p:nvSpPr>
        <p:spPr>
          <a:xfrm>
            <a:off x="365760" y="1335024"/>
            <a:ext cx="5943600" cy="237744"/>
          </a:xfrm>
          <a:prstGeom prst="rect">
            <a:avLst/>
          </a:prstGeom>
          <a:noFill/>
        </p:spPr>
        <p:txBody>
          <a:bodyPr wrap="square" lIns="0" tIns="0" bIns="0">
            <a:noAutofit/>
          </a:bodyPr>
          <a:lstStyle/>
          <a:p>
            <a:r>
              <a:rPr sz="1050" b="1">
                <a:solidFill>
                  <a:srgbClr val="3F4A55"/>
                </a:solidFill>
                <a:latin typeface="Google Sans Flex Medium"/>
              </a:rPr>
              <a:t>Request pipeline: every figure comes from the engine, never the model</a:t>
            </a:r>
          </a:p>
        </p:txBody>
      </p:sp>
      <p:sp>
        <p:nvSpPr>
          <p:cNvPr id="97" name="Rounded Rectangle 96"/>
          <p:cNvSpPr/>
          <p:nvPr/>
        </p:nvSpPr>
        <p:spPr>
          <a:xfrm>
            <a:off x="365760" y="1645920"/>
            <a:ext cx="868680" cy="768096"/>
          </a:xfrm>
          <a:prstGeom prst="roundRect">
            <a:avLst>
              <a:gd name="adj" fmla="val 12000"/>
            </a:avLst>
          </a:prstGeom>
          <a:solidFill>
            <a:srgbClr val="3F4A55"/>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50" b="1">
                <a:solidFill>
                  <a:srgbClr val="FFFFFF"/>
                </a:solidFill>
                <a:latin typeface="Google Sans Flex Medium"/>
              </a:rPr>
              <a:t>User</a:t>
            </a:r>
          </a:p>
          <a:p>
            <a:pPr algn="ctr">
              <a:spcBef>
                <a:spcPts val="0"/>
              </a:spcBef>
              <a:spcAft>
                <a:spcPts val="0"/>
              </a:spcAft>
            </a:pPr>
            <a:r>
              <a:rPr sz="700" b="0">
                <a:solidFill>
                  <a:srgbClr val="FFFFFF"/>
                </a:solidFill>
                <a:latin typeface="Google Sans Flex Medium"/>
              </a:rPr>
              <a:t>question</a:t>
            </a:r>
          </a:p>
        </p:txBody>
      </p:sp>
      <p:sp>
        <p:nvSpPr>
          <p:cNvPr id="98" name="Right Arrow 97"/>
          <p:cNvSpPr/>
          <p:nvPr/>
        </p:nvSpPr>
        <p:spPr>
          <a:xfrm>
            <a:off x="1266444" y="1952244"/>
            <a:ext cx="141732"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1440180" y="1645920"/>
            <a:ext cx="868680" cy="768096"/>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900" b="1">
                <a:solidFill>
                  <a:srgbClr val="FFFFFF"/>
                </a:solidFill>
                <a:latin typeface="Google Sans Flex Medium"/>
              </a:rPr>
              <a:t>A1</a:t>
            </a:r>
          </a:p>
          <a:p>
            <a:pPr algn="ctr">
              <a:spcBef>
                <a:spcPts val="0"/>
              </a:spcBef>
              <a:spcAft>
                <a:spcPts val="0"/>
              </a:spcAft>
            </a:pPr>
            <a:r>
              <a:rPr sz="700" b="0">
                <a:solidFill>
                  <a:srgbClr val="FFFFFF"/>
                </a:solidFill>
                <a:latin typeface="Google Sans Flex Medium"/>
              </a:rPr>
              <a:t>Coordinator</a:t>
            </a:r>
          </a:p>
        </p:txBody>
      </p:sp>
      <p:sp>
        <p:nvSpPr>
          <p:cNvPr id="100" name="Right Arrow 99"/>
          <p:cNvSpPr/>
          <p:nvPr/>
        </p:nvSpPr>
        <p:spPr>
          <a:xfrm>
            <a:off x="2340864" y="1952244"/>
            <a:ext cx="141732"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2514600" y="1645920"/>
            <a:ext cx="868680" cy="768096"/>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00" b="1">
                <a:solidFill>
                  <a:srgbClr val="FFFFFF"/>
                </a:solidFill>
                <a:latin typeface="Google Sans Flex Medium"/>
              </a:rPr>
              <a:t>A2 Scenario</a:t>
            </a:r>
          </a:p>
          <a:p>
            <a:pPr algn="ctr">
              <a:spcBef>
                <a:spcPts val="0"/>
              </a:spcBef>
              <a:spcAft>
                <a:spcPts val="0"/>
              </a:spcAft>
            </a:pPr>
            <a:r>
              <a:rPr sz="650" b="0">
                <a:solidFill>
                  <a:srgbClr val="FFFFFF"/>
                </a:solidFill>
                <a:latin typeface="Google Sans Flex Medium"/>
              </a:rPr>
              <a:t>question to params</a:t>
            </a:r>
          </a:p>
        </p:txBody>
      </p:sp>
      <p:sp>
        <p:nvSpPr>
          <p:cNvPr id="102" name="Right Arrow 101"/>
          <p:cNvSpPr/>
          <p:nvPr/>
        </p:nvSpPr>
        <p:spPr>
          <a:xfrm>
            <a:off x="3415284" y="1952244"/>
            <a:ext cx="141732"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3589020" y="1645920"/>
            <a:ext cx="868680" cy="768096"/>
          </a:xfrm>
          <a:prstGeom prst="roundRect">
            <a:avLst>
              <a:gd name="adj" fmla="val 12000"/>
            </a:avLst>
          </a:prstGeom>
          <a:solidFill>
            <a:srgbClr val="4A9E2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00" b="1">
                <a:solidFill>
                  <a:srgbClr val="FFFFFF"/>
                </a:solidFill>
                <a:latin typeface="Google Sans Flex Medium"/>
              </a:rPr>
              <a:t>A3 Forecast</a:t>
            </a:r>
          </a:p>
          <a:p>
            <a:pPr algn="ctr">
              <a:spcBef>
                <a:spcPts val="0"/>
              </a:spcBef>
              <a:spcAft>
                <a:spcPts val="0"/>
              </a:spcAft>
            </a:pPr>
            <a:r>
              <a:rPr sz="650" b="0">
                <a:solidFill>
                  <a:srgbClr val="FFFFFF"/>
                </a:solidFill>
                <a:latin typeface="Google Sans Flex Medium"/>
              </a:rPr>
              <a:t>Weather API</a:t>
            </a:r>
          </a:p>
        </p:txBody>
      </p:sp>
      <p:sp>
        <p:nvSpPr>
          <p:cNvPr id="104" name="Right Arrow 103"/>
          <p:cNvSpPr/>
          <p:nvPr/>
        </p:nvSpPr>
        <p:spPr>
          <a:xfrm>
            <a:off x="4489704" y="1952244"/>
            <a:ext cx="141732"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4663440" y="1645920"/>
            <a:ext cx="868680" cy="768096"/>
          </a:xfrm>
          <a:prstGeom prst="roundRect">
            <a:avLst>
              <a:gd name="adj" fmla="val 12000"/>
            </a:avLst>
          </a:prstGeom>
          <a:solidFill>
            <a:srgbClr val="15815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50" b="1">
                <a:solidFill>
                  <a:srgbClr val="FFFFFF"/>
                </a:solidFill>
                <a:latin typeface="Google Sans Flex Medium"/>
              </a:rPr>
              <a:t>A4 Engine</a:t>
            </a:r>
          </a:p>
          <a:p>
            <a:pPr algn="ctr">
              <a:spcBef>
                <a:spcPts val="0"/>
              </a:spcBef>
              <a:spcAft>
                <a:spcPts val="0"/>
              </a:spcAft>
            </a:pPr>
            <a:r>
              <a:rPr sz="650" b="0">
                <a:solidFill>
                  <a:srgbClr val="FFFFFF"/>
                </a:solidFill>
                <a:latin typeface="Google Sans Flex Medium"/>
              </a:rPr>
              <a:t>fill and route</a:t>
            </a:r>
          </a:p>
          <a:p>
            <a:pPr algn="ctr">
              <a:spcBef>
                <a:spcPts val="0"/>
              </a:spcBef>
              <a:spcAft>
                <a:spcPts val="0"/>
              </a:spcAft>
            </a:pPr>
            <a:r>
              <a:rPr sz="600" b="0">
                <a:solidFill>
                  <a:srgbClr val="FFFFFF"/>
                </a:solidFill>
                <a:latin typeface="Google Sans Flex Medium"/>
              </a:rPr>
              <a:t>computes figures</a:t>
            </a:r>
          </a:p>
        </p:txBody>
      </p:sp>
      <p:sp>
        <p:nvSpPr>
          <p:cNvPr id="106" name="Right Arrow 105"/>
          <p:cNvSpPr/>
          <p:nvPr/>
        </p:nvSpPr>
        <p:spPr>
          <a:xfrm>
            <a:off x="5564124" y="1952244"/>
            <a:ext cx="141732"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5737859" y="1645920"/>
            <a:ext cx="868680" cy="768096"/>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00" b="1">
                <a:solidFill>
                  <a:srgbClr val="FFFFFF"/>
                </a:solidFill>
                <a:latin typeface="Google Sans Flex Medium"/>
              </a:rPr>
              <a:t>A6 Narrator</a:t>
            </a:r>
          </a:p>
          <a:p>
            <a:pPr algn="ctr">
              <a:spcBef>
                <a:spcPts val="0"/>
              </a:spcBef>
              <a:spcAft>
                <a:spcPts val="0"/>
              </a:spcAft>
            </a:pPr>
            <a:r>
              <a:rPr sz="650" b="0">
                <a:solidFill>
                  <a:srgbClr val="FFFFFF"/>
                </a:solidFill>
                <a:latin typeface="Google Sans Flex Medium"/>
              </a:rPr>
              <a:t>explains only</a:t>
            </a:r>
          </a:p>
        </p:txBody>
      </p:sp>
      <p:sp>
        <p:nvSpPr>
          <p:cNvPr id="108" name="Right Arrow 107"/>
          <p:cNvSpPr/>
          <p:nvPr/>
        </p:nvSpPr>
        <p:spPr>
          <a:xfrm>
            <a:off x="6638544" y="1952244"/>
            <a:ext cx="141732"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ounded Rectangle 108"/>
          <p:cNvSpPr/>
          <p:nvPr/>
        </p:nvSpPr>
        <p:spPr>
          <a:xfrm>
            <a:off x="6812279" y="1645920"/>
            <a:ext cx="868680" cy="768096"/>
          </a:xfrm>
          <a:prstGeom prst="roundRect">
            <a:avLst>
              <a:gd name="adj" fmla="val 12000"/>
            </a:avLst>
          </a:prstGeom>
          <a:solidFill>
            <a:srgbClr val="C2760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00" b="1">
                <a:solidFill>
                  <a:srgbClr val="FFFFFF"/>
                </a:solidFill>
                <a:latin typeface="Google Sans Flex Medium"/>
              </a:rPr>
              <a:t>A7 Verifier</a:t>
            </a:r>
          </a:p>
          <a:p>
            <a:pPr algn="ctr">
              <a:spcBef>
                <a:spcPts val="0"/>
              </a:spcBef>
              <a:spcAft>
                <a:spcPts val="0"/>
              </a:spcAft>
            </a:pPr>
            <a:r>
              <a:rPr sz="600" b="0">
                <a:solidFill>
                  <a:srgbClr val="FFFFFF"/>
                </a:solidFill>
                <a:latin typeface="Google Sans Flex Medium"/>
              </a:rPr>
              <a:t>traces every number,</a:t>
            </a:r>
          </a:p>
          <a:p>
            <a:pPr algn="ctr">
              <a:spcBef>
                <a:spcPts val="0"/>
              </a:spcBef>
              <a:spcAft>
                <a:spcPts val="0"/>
              </a:spcAft>
            </a:pPr>
            <a:r>
              <a:rPr sz="600" b="0">
                <a:solidFill>
                  <a:srgbClr val="FFFFFF"/>
                </a:solidFill>
                <a:latin typeface="Google Sans Flex Medium"/>
              </a:rPr>
              <a:t>else refuses</a:t>
            </a:r>
          </a:p>
        </p:txBody>
      </p:sp>
      <p:sp>
        <p:nvSpPr>
          <p:cNvPr id="110" name="Right Arrow 109"/>
          <p:cNvSpPr/>
          <p:nvPr/>
        </p:nvSpPr>
        <p:spPr>
          <a:xfrm>
            <a:off x="7712963" y="1952244"/>
            <a:ext cx="141732"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ounded Rectangle 110"/>
          <p:cNvSpPr/>
          <p:nvPr/>
        </p:nvSpPr>
        <p:spPr>
          <a:xfrm>
            <a:off x="7886700" y="1645920"/>
            <a:ext cx="868680" cy="768096"/>
          </a:xfrm>
          <a:prstGeom prst="roundRect">
            <a:avLst>
              <a:gd name="adj" fmla="val 12000"/>
            </a:avLst>
          </a:prstGeom>
          <a:solidFill>
            <a:srgbClr val="3F4A55"/>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50" b="1">
                <a:solidFill>
                  <a:srgbClr val="FFFFFF"/>
                </a:solidFill>
                <a:latin typeface="Google Sans Flex Medium"/>
              </a:rPr>
              <a:t>Answer</a:t>
            </a:r>
          </a:p>
        </p:txBody>
      </p:sp>
      <p:sp>
        <p:nvSpPr>
          <p:cNvPr id="112" name="TextBox 111"/>
          <p:cNvSpPr txBox="1"/>
          <p:nvPr/>
        </p:nvSpPr>
        <p:spPr>
          <a:xfrm>
            <a:off x="365760" y="2633472"/>
            <a:ext cx="5943600" cy="237744"/>
          </a:xfrm>
          <a:prstGeom prst="rect">
            <a:avLst/>
          </a:prstGeom>
          <a:noFill/>
        </p:spPr>
        <p:txBody>
          <a:bodyPr wrap="square" lIns="0" tIns="0" bIns="0">
            <a:noAutofit/>
          </a:bodyPr>
          <a:lstStyle/>
          <a:p>
            <a:r>
              <a:rPr sz="1050" b="1">
                <a:solidFill>
                  <a:srgbClr val="3F4A55"/>
                </a:solidFill>
                <a:latin typeface="Google Sans Flex Medium"/>
              </a:rPr>
              <a:t>Event-driven path, on a schedule, in parallel</a:t>
            </a:r>
          </a:p>
        </p:txBody>
      </p:sp>
      <p:sp>
        <p:nvSpPr>
          <p:cNvPr id="113" name="Rounded Rectangle 112"/>
          <p:cNvSpPr/>
          <p:nvPr/>
        </p:nvSpPr>
        <p:spPr>
          <a:xfrm>
            <a:off x="365760" y="2907792"/>
            <a:ext cx="1481328" cy="603504"/>
          </a:xfrm>
          <a:prstGeom prst="roundRect">
            <a:avLst>
              <a:gd name="adj" fmla="val 12000"/>
            </a:avLst>
          </a:prstGeom>
          <a:solidFill>
            <a:srgbClr val="4A9E2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00" b="1">
                <a:solidFill>
                  <a:srgbClr val="FFFFFF"/>
                </a:solidFill>
                <a:latin typeface="Google Sans Flex Medium"/>
              </a:rPr>
              <a:t>Cloud Scheduler</a:t>
            </a:r>
          </a:p>
          <a:p>
            <a:pPr algn="ctr">
              <a:spcBef>
                <a:spcPts val="0"/>
              </a:spcBef>
              <a:spcAft>
                <a:spcPts val="0"/>
              </a:spcAft>
            </a:pPr>
            <a:r>
              <a:rPr sz="650" b="0">
                <a:solidFill>
                  <a:srgbClr val="FFFFFF"/>
                </a:solidFill>
                <a:latin typeface="Google Sans Flex Medium"/>
              </a:rPr>
              <a:t>every 30 min</a:t>
            </a:r>
          </a:p>
        </p:txBody>
      </p:sp>
      <p:sp>
        <p:nvSpPr>
          <p:cNvPr id="114" name="Right Arrow 113"/>
          <p:cNvSpPr/>
          <p:nvPr/>
        </p:nvSpPr>
        <p:spPr>
          <a:xfrm>
            <a:off x="1892807" y="3131820"/>
            <a:ext cx="182879"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ounded Rectangle 114"/>
          <p:cNvSpPr/>
          <p:nvPr/>
        </p:nvSpPr>
        <p:spPr>
          <a:xfrm>
            <a:off x="2121408" y="2907792"/>
            <a:ext cx="1481328" cy="603504"/>
          </a:xfrm>
          <a:prstGeom prst="roundRect">
            <a:avLst>
              <a:gd name="adj" fmla="val 12000"/>
            </a:avLst>
          </a:prstGeom>
          <a:solidFill>
            <a:srgbClr val="15815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50" b="1">
                <a:solidFill>
                  <a:srgbClr val="FFFFFF"/>
                </a:solidFill>
                <a:latin typeface="Google Sans Flex Medium"/>
              </a:rPr>
              <a:t>Watcher</a:t>
            </a:r>
          </a:p>
          <a:p>
            <a:pPr algn="ctr">
              <a:spcBef>
                <a:spcPts val="0"/>
              </a:spcBef>
              <a:spcAft>
                <a:spcPts val="0"/>
              </a:spcAft>
            </a:pPr>
            <a:r>
              <a:rPr sz="650" b="0">
                <a:solidFill>
                  <a:srgbClr val="FFFFFF"/>
                </a:solidFill>
                <a:latin typeface="Google Sans Flex Medium"/>
              </a:rPr>
              <a:t>sweeps preset areas</a:t>
            </a:r>
          </a:p>
        </p:txBody>
      </p:sp>
      <p:sp>
        <p:nvSpPr>
          <p:cNvPr id="116" name="Right Arrow 115"/>
          <p:cNvSpPr/>
          <p:nvPr/>
        </p:nvSpPr>
        <p:spPr>
          <a:xfrm>
            <a:off x="3648456" y="3131820"/>
            <a:ext cx="182879"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ounded Rectangle 116"/>
          <p:cNvSpPr/>
          <p:nvPr/>
        </p:nvSpPr>
        <p:spPr>
          <a:xfrm>
            <a:off x="3877056" y="2907792"/>
            <a:ext cx="1481328" cy="603504"/>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50" b="1">
                <a:solidFill>
                  <a:srgbClr val="FFFFFF"/>
                </a:solidFill>
                <a:latin typeface="Google Sans Flex Medium"/>
              </a:rPr>
              <a:t>Pub/Sub</a:t>
            </a:r>
          </a:p>
          <a:p>
            <a:pPr algn="ctr">
              <a:spcBef>
                <a:spcPts val="0"/>
              </a:spcBef>
              <a:spcAft>
                <a:spcPts val="0"/>
              </a:spcAft>
            </a:pPr>
            <a:r>
              <a:rPr sz="650" b="0">
                <a:solidFill>
                  <a:srgbClr val="FFFFFF"/>
                </a:solidFill>
                <a:latin typeface="Google Sans Flex Medium"/>
              </a:rPr>
              <a:t>bih-alerts topic</a:t>
            </a:r>
          </a:p>
        </p:txBody>
      </p:sp>
      <p:sp>
        <p:nvSpPr>
          <p:cNvPr id="118" name="Right Arrow 117"/>
          <p:cNvSpPr/>
          <p:nvPr/>
        </p:nvSpPr>
        <p:spPr>
          <a:xfrm>
            <a:off x="5404104" y="3131820"/>
            <a:ext cx="182879" cy="155448"/>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ounded Rectangle 118"/>
          <p:cNvSpPr/>
          <p:nvPr/>
        </p:nvSpPr>
        <p:spPr>
          <a:xfrm>
            <a:off x="5632704" y="2907792"/>
            <a:ext cx="1481328" cy="603504"/>
          </a:xfrm>
          <a:prstGeom prst="roundRect">
            <a:avLst>
              <a:gd name="adj" fmla="val 12000"/>
            </a:avLst>
          </a:prstGeom>
          <a:solidFill>
            <a:srgbClr val="3F4A55"/>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50" b="1">
                <a:solidFill>
                  <a:srgbClr val="FFFFFF"/>
                </a:solidFill>
                <a:latin typeface="Google Sans Flex Medium"/>
              </a:rPr>
              <a:t>Alerts banner</a:t>
            </a:r>
          </a:p>
          <a:p>
            <a:pPr algn="ctr">
              <a:spcBef>
                <a:spcPts val="0"/>
              </a:spcBef>
              <a:spcAft>
                <a:spcPts val="0"/>
              </a:spcAft>
            </a:pPr>
            <a:r>
              <a:rPr sz="650" b="0">
                <a:solidFill>
                  <a:srgbClr val="FFFFFF"/>
                </a:solidFill>
                <a:latin typeface="Google Sans Flex Medium"/>
              </a:rPr>
              <a:t>anyone can read it</a:t>
            </a:r>
          </a:p>
        </p:txBody>
      </p:sp>
      <p:sp>
        <p:nvSpPr>
          <p:cNvPr id="120" name="Rounded Rectangle 119"/>
          <p:cNvSpPr/>
          <p:nvPr/>
        </p:nvSpPr>
        <p:spPr>
          <a:xfrm>
            <a:off x="365760" y="3785615"/>
            <a:ext cx="8421624" cy="749808"/>
          </a:xfrm>
          <a:prstGeom prst="roundRect">
            <a:avLst>
              <a:gd name="adj" fmla="val 6000"/>
            </a:avLst>
          </a:prstGeom>
          <a:solidFill>
            <a:srgbClr val="EFF4F8"/>
          </a:solidFill>
          <a:ln w="12700">
            <a:solidFill>
              <a:srgbClr val="C7D9E4"/>
            </a:solid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1000" b="1">
                <a:solidFill>
                  <a:srgbClr val="262A2E"/>
                </a:solidFill>
                <a:latin typeface="Google Sans Flex Medium"/>
              </a:rPr>
              <a:t>No language model ever produces a number.</a:t>
            </a:r>
          </a:p>
          <a:p>
            <a:pPr algn="ctr">
              <a:spcBef>
                <a:spcPts val="0"/>
              </a:spcBef>
              <a:spcAft>
                <a:spcPts val="0"/>
              </a:spcAft>
            </a:pPr>
            <a:r>
              <a:rPr sz="900" b="0">
                <a:solidFill>
                  <a:srgbClr val="262A2E"/>
                </a:solidFill>
                <a:latin typeface="Google Sans Flex Medium"/>
              </a:rPr>
              <a:t>The engine computes every figure. A7 Verifier refuses any claim it cannot trace back to the engine, and the product refuses water depths, timing, casualties and dispatch outright.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Architecture diagram of the proposed solution</a:t>
            </a:r>
            <a:endParaRPr sz="1600" dirty="0">
              <a:latin typeface="Google Sans Flex Medium"/>
              <a:ea typeface="Google Sans Flex Medium"/>
              <a:cs typeface="Google Sans Flex Medium"/>
              <a:sym typeface="Google Sans Flex Medium"/>
            </a:endParaRPr>
          </a:p>
        </p:txBody>
      </p:sp>
      <p:sp>
        <p:nvSpPr>
          <p:cNvPr id="112" name="Rounded Rectangle 111"/>
          <p:cNvSpPr/>
          <p:nvPr/>
        </p:nvSpPr>
        <p:spPr>
          <a:xfrm>
            <a:off x="365760" y="1325880"/>
            <a:ext cx="8421624" cy="384048"/>
          </a:xfrm>
          <a:prstGeom prst="roundRect">
            <a:avLst>
              <a:gd name="adj" fmla="val 12000"/>
            </a:avLst>
          </a:prstGeom>
          <a:solidFill>
            <a:srgbClr val="3F4A55"/>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900" b="1">
                <a:solidFill>
                  <a:srgbClr val="FFFFFF"/>
                </a:solidFill>
                <a:latin typeface="Google Sans Flex Medium"/>
              </a:rPr>
              <a:t>Client: static web app in the browser</a:t>
            </a:r>
          </a:p>
          <a:p>
            <a:pPr algn="ctr">
              <a:spcBef>
                <a:spcPts val="0"/>
              </a:spcBef>
              <a:spcAft>
                <a:spcPts val="0"/>
              </a:spcAft>
            </a:pPr>
            <a:r>
              <a:rPr sz="700" b="0">
                <a:solidFill>
                  <a:srgbClr val="FFFFFF"/>
                </a:solidFill>
                <a:latin typeface="Google Sans Flex Medium"/>
              </a:rPr>
              <a:t>Google Maps JS · panel tabs: Agent, Rain, Details, Heat, Air, News · preparation-alerts banner · forecast time bar</a:t>
            </a:r>
          </a:p>
        </p:txBody>
      </p:sp>
      <p:sp>
        <p:nvSpPr>
          <p:cNvPr id="113" name="Down Arrow 112"/>
          <p:cNvSpPr/>
          <p:nvPr/>
        </p:nvSpPr>
        <p:spPr>
          <a:xfrm>
            <a:off x="4462272" y="1728216"/>
            <a:ext cx="237744" cy="146304"/>
          </a:xfrm>
          <a:prstGeom prst="down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p:cNvSpPr/>
          <p:nvPr/>
        </p:nvSpPr>
        <p:spPr>
          <a:xfrm>
            <a:off x="365760" y="1892807"/>
            <a:ext cx="8421624" cy="1536192"/>
          </a:xfrm>
          <a:prstGeom prst="roundRect">
            <a:avLst>
              <a:gd name="adj" fmla="val 5000"/>
            </a:avLst>
          </a:prstGeom>
          <a:solidFill>
            <a:srgbClr val="EFF4F8"/>
          </a:solidFill>
          <a:ln w="12700">
            <a:solidFill>
              <a:srgbClr val="C7D9E4"/>
            </a:solid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endParaRPr/>
          </a:p>
        </p:txBody>
      </p:sp>
      <p:sp>
        <p:nvSpPr>
          <p:cNvPr id="115" name="TextBox 114"/>
          <p:cNvSpPr txBox="1"/>
          <p:nvPr/>
        </p:nvSpPr>
        <p:spPr>
          <a:xfrm>
            <a:off x="493776" y="1929384"/>
            <a:ext cx="8138160" cy="201168"/>
          </a:xfrm>
          <a:prstGeom prst="rect">
            <a:avLst/>
          </a:prstGeom>
          <a:noFill/>
        </p:spPr>
        <p:txBody>
          <a:bodyPr wrap="square" lIns="0" tIns="0" bIns="0">
            <a:noAutofit/>
          </a:bodyPr>
          <a:lstStyle/>
          <a:p>
            <a:r>
              <a:rPr sz="900" b="1">
                <a:solidFill>
                  <a:srgbClr val="3F4A55"/>
                </a:solidFill>
                <a:latin typeface="Google Sans Flex Medium"/>
              </a:rPr>
              <a:t>Google Cloud Run: FastAPI service (asia-south1, min-instances 1, 2 vCPU / 2 GiB, built by Cloud Build)</a:t>
            </a:r>
          </a:p>
        </p:txBody>
      </p:sp>
      <p:sp>
        <p:nvSpPr>
          <p:cNvPr id="116" name="Rounded Rectangle 115"/>
          <p:cNvSpPr/>
          <p:nvPr/>
        </p:nvSpPr>
        <p:spPr>
          <a:xfrm>
            <a:off x="429768" y="2157984"/>
            <a:ext cx="1298448" cy="402336"/>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/api/analyse</a:t>
            </a:r>
          </a:p>
          <a:p>
            <a:pPr algn="ctr">
              <a:spcBef>
                <a:spcPts val="0"/>
              </a:spcBef>
              <a:spcAft>
                <a:spcPts val="0"/>
              </a:spcAft>
            </a:pPr>
            <a:r>
              <a:rPr sz="600" b="0">
                <a:solidFill>
                  <a:srgbClr val="FFFFFF"/>
                </a:solidFill>
                <a:latin typeface="Google Sans Flex Medium"/>
              </a:rPr>
              <a:t>screening</a:t>
            </a:r>
          </a:p>
        </p:txBody>
      </p:sp>
      <p:sp>
        <p:nvSpPr>
          <p:cNvPr id="117" name="Rounded Rectangle 116"/>
          <p:cNvSpPr/>
          <p:nvPr/>
        </p:nvSpPr>
        <p:spPr>
          <a:xfrm>
            <a:off x="1828800" y="2157984"/>
            <a:ext cx="1298448" cy="402336"/>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/api/ask</a:t>
            </a:r>
          </a:p>
          <a:p>
            <a:pPr algn="ctr">
              <a:spcBef>
                <a:spcPts val="0"/>
              </a:spcBef>
              <a:spcAft>
                <a:spcPts val="0"/>
              </a:spcAft>
            </a:pPr>
            <a:r>
              <a:rPr sz="600" b="0">
                <a:solidFill>
                  <a:srgbClr val="FFFFFF"/>
                </a:solidFill>
                <a:latin typeface="Google Sans Flex Medium"/>
              </a:rPr>
              <a:t>plain-language Q&amp;A</a:t>
            </a:r>
          </a:p>
        </p:txBody>
      </p:sp>
      <p:sp>
        <p:nvSpPr>
          <p:cNvPr id="118" name="Rounded Rectangle 117"/>
          <p:cNvSpPr/>
          <p:nvPr/>
        </p:nvSpPr>
        <p:spPr>
          <a:xfrm>
            <a:off x="3227832" y="2157984"/>
            <a:ext cx="1298448" cy="402336"/>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/api/forecast</a:t>
            </a:r>
          </a:p>
          <a:p>
            <a:pPr algn="ctr">
              <a:spcBef>
                <a:spcPts val="0"/>
              </a:spcBef>
              <a:spcAft>
                <a:spcPts val="0"/>
              </a:spcAft>
            </a:pPr>
            <a:r>
              <a:rPr sz="600" b="0">
                <a:solidFill>
                  <a:srgbClr val="FFFFFF"/>
                </a:solidFill>
                <a:latin typeface="Google Sans Flex Medium"/>
              </a:rPr>
              <a:t>rain, heat, air</a:t>
            </a:r>
          </a:p>
        </p:txBody>
      </p:sp>
      <p:sp>
        <p:nvSpPr>
          <p:cNvPr id="119" name="Rounded Rectangle 118"/>
          <p:cNvSpPr/>
          <p:nvPr/>
        </p:nvSpPr>
        <p:spPr>
          <a:xfrm>
            <a:off x="4626864" y="2157984"/>
            <a:ext cx="1298448" cy="402336"/>
          </a:xfrm>
          <a:prstGeom prst="roundRect">
            <a:avLst>
              <a:gd name="adj" fmla="val 12000"/>
            </a:avLst>
          </a:prstGeom>
          <a:solidFill>
            <a:srgbClr val="4A9E2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/api/watch</a:t>
            </a:r>
          </a:p>
          <a:p>
            <a:pPr algn="ctr">
              <a:spcBef>
                <a:spcPts val="0"/>
              </a:spcBef>
              <a:spcAft>
                <a:spcPts val="0"/>
              </a:spcAft>
            </a:pPr>
            <a:r>
              <a:rPr sz="600" b="0">
                <a:solidFill>
                  <a:srgbClr val="FFFFFF"/>
                </a:solidFill>
                <a:latin typeface="Google Sans Flex Medium"/>
              </a:rPr>
              <a:t>and /api/alerts</a:t>
            </a:r>
          </a:p>
        </p:txBody>
      </p:sp>
      <p:sp>
        <p:nvSpPr>
          <p:cNvPr id="120" name="Rounded Rectangle 119"/>
          <p:cNvSpPr/>
          <p:nvPr/>
        </p:nvSpPr>
        <p:spPr>
          <a:xfrm>
            <a:off x="6025896" y="2157984"/>
            <a:ext cx="1298448" cy="402336"/>
          </a:xfrm>
          <a:prstGeom prst="roundRect">
            <a:avLst>
              <a:gd name="adj" fmla="val 12000"/>
            </a:avLst>
          </a:prstGeom>
          <a:solidFill>
            <a:srgbClr val="6B4E9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/mcp</a:t>
            </a:r>
          </a:p>
          <a:p>
            <a:pPr algn="ctr">
              <a:spcBef>
                <a:spcPts val="0"/>
              </a:spcBef>
              <a:spcAft>
                <a:spcPts val="0"/>
              </a:spcAft>
            </a:pPr>
            <a:r>
              <a:rPr sz="600" b="0">
                <a:solidFill>
                  <a:srgbClr val="FFFFFF"/>
                </a:solidFill>
                <a:latin typeface="Google Sans Flex Medium"/>
              </a:rPr>
              <a:t>MCP server</a:t>
            </a:r>
          </a:p>
        </p:txBody>
      </p:sp>
      <p:sp>
        <p:nvSpPr>
          <p:cNvPr id="121" name="Rounded Rectangle 120"/>
          <p:cNvSpPr/>
          <p:nvPr/>
        </p:nvSpPr>
        <p:spPr>
          <a:xfrm>
            <a:off x="7424928" y="2157984"/>
            <a:ext cx="1298448" cy="402336"/>
          </a:xfrm>
          <a:prstGeom prst="roundRect">
            <a:avLst>
              <a:gd name="adj" fmla="val 12000"/>
            </a:avLst>
          </a:prstGeom>
          <a:solidFill>
            <a:srgbClr val="6B4E9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/a2a</a:t>
            </a:r>
          </a:p>
          <a:p>
            <a:pPr algn="ctr">
              <a:spcBef>
                <a:spcPts val="0"/>
              </a:spcBef>
              <a:spcAft>
                <a:spcPts val="0"/>
              </a:spcAft>
            </a:pPr>
            <a:r>
              <a:rPr sz="600" b="0">
                <a:solidFill>
                  <a:srgbClr val="FFFFFF"/>
                </a:solidFill>
                <a:latin typeface="Google Sans Flex Medium"/>
              </a:rPr>
              <a:t>A2A agent card</a:t>
            </a:r>
          </a:p>
        </p:txBody>
      </p:sp>
      <p:sp>
        <p:nvSpPr>
          <p:cNvPr id="122" name="TextBox 121"/>
          <p:cNvSpPr txBox="1"/>
          <p:nvPr/>
        </p:nvSpPr>
        <p:spPr>
          <a:xfrm>
            <a:off x="493776" y="2596896"/>
            <a:ext cx="8138160" cy="182880"/>
          </a:xfrm>
          <a:prstGeom prst="rect">
            <a:avLst/>
          </a:prstGeom>
          <a:noFill/>
        </p:spPr>
        <p:txBody>
          <a:bodyPr wrap="square" lIns="0" tIns="0" bIns="0">
            <a:noAutofit/>
          </a:bodyPr>
          <a:lstStyle/>
          <a:p>
            <a:r>
              <a:rPr sz="850" b="1">
                <a:solidFill>
                  <a:srgbClr val="3F4A55"/>
                </a:solidFill>
                <a:latin typeface="Google Sans Flex Medium"/>
              </a:rPr>
              <a:t>Agent pipeline: Gemini 3.5-flash writes, 3.8-flash checks. The models explain; they never compute.</a:t>
            </a:r>
          </a:p>
        </p:txBody>
      </p:sp>
      <p:sp>
        <p:nvSpPr>
          <p:cNvPr id="123" name="Rounded Rectangle 122"/>
          <p:cNvSpPr/>
          <p:nvPr/>
        </p:nvSpPr>
        <p:spPr>
          <a:xfrm>
            <a:off x="438912" y="2807208"/>
            <a:ext cx="1581912" cy="402336"/>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A1 Coordinator</a:t>
            </a:r>
          </a:p>
          <a:p>
            <a:pPr algn="ctr">
              <a:spcBef>
                <a:spcPts val="0"/>
              </a:spcBef>
              <a:spcAft>
                <a:spcPts val="0"/>
              </a:spcAft>
            </a:pPr>
            <a:r>
              <a:rPr sz="600" b="0">
                <a:solidFill>
                  <a:srgbClr val="FFFFFF"/>
                </a:solidFill>
                <a:latin typeface="Google Sans Flex Medium"/>
              </a:rPr>
              <a:t>routes the ask</a:t>
            </a:r>
          </a:p>
        </p:txBody>
      </p:sp>
      <p:sp>
        <p:nvSpPr>
          <p:cNvPr id="124" name="Rounded Rectangle 123"/>
          <p:cNvSpPr/>
          <p:nvPr/>
        </p:nvSpPr>
        <p:spPr>
          <a:xfrm>
            <a:off x="2112264" y="2807208"/>
            <a:ext cx="1581912" cy="402336"/>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A2 Scenario</a:t>
            </a:r>
          </a:p>
          <a:p>
            <a:pPr algn="ctr">
              <a:spcBef>
                <a:spcPts val="0"/>
              </a:spcBef>
              <a:spcAft>
                <a:spcPts val="0"/>
              </a:spcAft>
            </a:pPr>
            <a:r>
              <a:rPr sz="600" b="0">
                <a:solidFill>
                  <a:srgbClr val="FFFFFF"/>
                </a:solidFill>
                <a:latin typeface="Google Sans Flex Medium"/>
              </a:rPr>
              <a:t>question to params</a:t>
            </a:r>
          </a:p>
        </p:txBody>
      </p:sp>
      <p:sp>
        <p:nvSpPr>
          <p:cNvPr id="125" name="Rounded Rectangle 124"/>
          <p:cNvSpPr/>
          <p:nvPr/>
        </p:nvSpPr>
        <p:spPr>
          <a:xfrm>
            <a:off x="3785616" y="2807208"/>
            <a:ext cx="1581912" cy="402336"/>
          </a:xfrm>
          <a:prstGeom prst="roundRect">
            <a:avLst>
              <a:gd name="adj" fmla="val 12000"/>
            </a:avLst>
          </a:prstGeom>
          <a:solidFill>
            <a:srgbClr val="4A9E2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A3 Forecast</a:t>
            </a:r>
          </a:p>
          <a:p>
            <a:pPr algn="ctr">
              <a:spcBef>
                <a:spcPts val="0"/>
              </a:spcBef>
              <a:spcAft>
                <a:spcPts val="0"/>
              </a:spcAft>
            </a:pPr>
            <a:r>
              <a:rPr sz="600" b="0">
                <a:solidFill>
                  <a:srgbClr val="FFFFFF"/>
                </a:solidFill>
                <a:latin typeface="Google Sans Flex Medium"/>
              </a:rPr>
              <a:t>Google Weather API</a:t>
            </a:r>
          </a:p>
        </p:txBody>
      </p:sp>
      <p:sp>
        <p:nvSpPr>
          <p:cNvPr id="126" name="Rounded Rectangle 125"/>
          <p:cNvSpPr/>
          <p:nvPr/>
        </p:nvSpPr>
        <p:spPr>
          <a:xfrm>
            <a:off x="5458968" y="2807208"/>
            <a:ext cx="1581912" cy="402336"/>
          </a:xfrm>
          <a:prstGeom prst="roundRect">
            <a:avLst>
              <a:gd name="adj" fmla="val 12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A6 Narrator</a:t>
            </a:r>
          </a:p>
          <a:p>
            <a:pPr algn="ctr">
              <a:spcBef>
                <a:spcPts val="0"/>
              </a:spcBef>
              <a:spcAft>
                <a:spcPts val="0"/>
              </a:spcAft>
            </a:pPr>
            <a:r>
              <a:rPr sz="600" b="0">
                <a:solidFill>
                  <a:srgbClr val="FFFFFF"/>
                </a:solidFill>
                <a:latin typeface="Google Sans Flex Medium"/>
              </a:rPr>
              <a:t>explains, no numbers</a:t>
            </a:r>
          </a:p>
        </p:txBody>
      </p:sp>
      <p:sp>
        <p:nvSpPr>
          <p:cNvPr id="127" name="Rounded Rectangle 126"/>
          <p:cNvSpPr/>
          <p:nvPr/>
        </p:nvSpPr>
        <p:spPr>
          <a:xfrm>
            <a:off x="7132320" y="2807208"/>
            <a:ext cx="1581912" cy="402336"/>
          </a:xfrm>
          <a:prstGeom prst="roundRect">
            <a:avLst>
              <a:gd name="adj" fmla="val 12000"/>
            </a:avLst>
          </a:prstGeom>
          <a:solidFill>
            <a:srgbClr val="C2760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1">
                <a:solidFill>
                  <a:srgbClr val="FFFFFF"/>
                </a:solidFill>
                <a:latin typeface="Google Sans Flex Medium"/>
              </a:rPr>
              <a:t>A7 Verifier</a:t>
            </a:r>
          </a:p>
          <a:p>
            <a:pPr algn="ctr">
              <a:spcBef>
                <a:spcPts val="0"/>
              </a:spcBef>
              <a:spcAft>
                <a:spcPts val="0"/>
              </a:spcAft>
            </a:pPr>
            <a:r>
              <a:rPr sz="600" b="0">
                <a:solidFill>
                  <a:srgbClr val="FFFFFF"/>
                </a:solidFill>
                <a:latin typeface="Google Sans Flex Medium"/>
              </a:rPr>
              <a:t>every figure must trace</a:t>
            </a:r>
          </a:p>
        </p:txBody>
      </p:sp>
      <p:sp>
        <p:nvSpPr>
          <p:cNvPr id="128" name="Down Arrow 127"/>
          <p:cNvSpPr/>
          <p:nvPr/>
        </p:nvSpPr>
        <p:spPr>
          <a:xfrm>
            <a:off x="4462272" y="3447288"/>
            <a:ext cx="237744" cy="128016"/>
          </a:xfrm>
          <a:prstGeom prst="down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ounded Rectangle 128"/>
          <p:cNvSpPr/>
          <p:nvPr/>
        </p:nvSpPr>
        <p:spPr>
          <a:xfrm>
            <a:off x="365760" y="3593592"/>
            <a:ext cx="8421624" cy="457200"/>
          </a:xfrm>
          <a:prstGeom prst="roundRect">
            <a:avLst>
              <a:gd name="adj" fmla="val 12000"/>
            </a:avLst>
          </a:prstGeom>
          <a:solidFill>
            <a:srgbClr val="15815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50" b="1">
                <a:solidFill>
                  <a:srgbClr val="FFFFFF"/>
                </a:solidFill>
                <a:latin typeface="Google Sans Flex Medium"/>
              </a:rPr>
              <a:t>Deterministic terrain engine (rasterio + numba). Produces EVERY figure.</a:t>
            </a:r>
          </a:p>
          <a:p>
            <a:pPr algn="ctr">
              <a:spcBef>
                <a:spcPts val="0"/>
              </a:spcBef>
              <a:spcAft>
                <a:spcPts val="0"/>
              </a:spcAft>
            </a:pPr>
            <a:r>
              <a:rPr sz="700" b="0">
                <a:solidFill>
                  <a:srgbClr val="FFFFFF"/>
                </a:solidFill>
                <a:latin typeface="Google Sans Flex Medium"/>
              </a:rPr>
              <a:t>despike DEM → fill and route → rank low spots 1 to 5 → rain-to-fill per spot → roads overlay → population exposure → comparison with the official flood map</a:t>
            </a:r>
          </a:p>
        </p:txBody>
      </p:sp>
      <p:sp>
        <p:nvSpPr>
          <p:cNvPr id="130" name="Rounded Rectangle 129"/>
          <p:cNvSpPr/>
          <p:nvPr/>
        </p:nvSpPr>
        <p:spPr>
          <a:xfrm>
            <a:off x="365760" y="4105656"/>
            <a:ext cx="5120640" cy="384048"/>
          </a:xfrm>
          <a:prstGeom prst="roundRect">
            <a:avLst>
              <a:gd name="adj" fmla="val 12000"/>
            </a:avLst>
          </a:prstGeom>
          <a:solidFill>
            <a:srgbClr val="3F4A55"/>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00" b="1">
                <a:solidFill>
                  <a:srgbClr val="FFFFFF"/>
                </a:solidFill>
                <a:latin typeface="Google Sans Flex Medium"/>
              </a:rPr>
              <a:t>Open data, baked into the container image</a:t>
            </a:r>
          </a:p>
          <a:p>
            <a:pPr algn="ctr">
              <a:spcBef>
                <a:spcPts val="0"/>
              </a:spcBef>
              <a:spcAft>
                <a:spcPts val="0"/>
              </a:spcAft>
            </a:pPr>
            <a:r>
              <a:rPr sz="650" b="0">
                <a:solidFill>
                  <a:srgbClr val="FFFFFF"/>
                </a:solidFill>
                <a:latin typeface="Google Sans Flex Medium"/>
              </a:rPr>
              <a:t>DeltaDTM (DEM) · OpenStreetMap · GHS-POP · KSDMA official flood maps (Kochi) · Landsat</a:t>
            </a:r>
          </a:p>
        </p:txBody>
      </p:sp>
      <p:sp>
        <p:nvSpPr>
          <p:cNvPr id="131" name="Rounded Rectangle 130"/>
          <p:cNvSpPr/>
          <p:nvPr/>
        </p:nvSpPr>
        <p:spPr>
          <a:xfrm>
            <a:off x="5559552" y="4105656"/>
            <a:ext cx="3227832" cy="384048"/>
          </a:xfrm>
          <a:prstGeom prst="roundRect">
            <a:avLst>
              <a:gd name="adj" fmla="val 12000"/>
            </a:avLst>
          </a:prstGeom>
          <a:solidFill>
            <a:srgbClr val="4A9E2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800" b="1">
                <a:solidFill>
                  <a:srgbClr val="FFFFFF"/>
                </a:solidFill>
                <a:latin typeface="Google Sans Flex Medium"/>
              </a:rPr>
              <a:t>Google APIs, live</a:t>
            </a:r>
          </a:p>
          <a:p>
            <a:pPr algn="ctr">
              <a:spcBef>
                <a:spcPts val="0"/>
              </a:spcBef>
              <a:spcAft>
                <a:spcPts val="0"/>
              </a:spcAft>
            </a:pPr>
            <a:r>
              <a:rPr sz="650" b="0">
                <a:solidFill>
                  <a:srgbClr val="FFFFFF"/>
                </a:solidFill>
                <a:latin typeface="Google Sans Flex Medium"/>
              </a:rPr>
              <a:t>Weather · Air Quality · Maps Platform</a:t>
            </a:r>
          </a:p>
        </p:txBody>
      </p:sp>
      <p:sp>
        <p:nvSpPr>
          <p:cNvPr id="132" name="Rounded Rectangle 131"/>
          <p:cNvSpPr/>
          <p:nvPr/>
        </p:nvSpPr>
        <p:spPr>
          <a:xfrm>
            <a:off x="365760" y="4544568"/>
            <a:ext cx="8421624" cy="365760"/>
          </a:xfrm>
          <a:prstGeom prst="roundRect">
            <a:avLst>
              <a:gd name="adj" fmla="val 6000"/>
            </a:avLst>
          </a:prstGeom>
          <a:solidFill>
            <a:srgbClr val="EFF4F8"/>
          </a:solidFill>
          <a:ln w="12700">
            <a:solidFill>
              <a:srgbClr val="C7D9E4"/>
            </a:solid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noAutofit/>
          </a:bodyPr>
          <a:lstStyle/>
          <a:p>
            <a:pPr algn="ctr">
              <a:spcBef>
                <a:spcPts val="0"/>
              </a:spcBef>
              <a:spcAft>
                <a:spcPts val="0"/>
              </a:spcAft>
            </a:pPr>
            <a:r>
              <a:rPr sz="750" b="0">
                <a:solidFill>
                  <a:srgbClr val="262A2E"/>
                </a:solidFill>
                <a:latin typeface="Google Sans Flex Medium"/>
              </a:rPr>
              <a:t>Event-driven and delivery: Cloud Scheduler → /api/watch → Watcher → Pub/Sub (bih-alerts) → /api/alerts → alerts banner     |     Cloud Build → Cloud Run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21"/>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Technologies used in the solution</a:t>
            </a:r>
            <a:endParaRPr sz="1600" dirty="0">
              <a:latin typeface="Google Sans Flex Medium"/>
              <a:ea typeface="Google Sans Flex Medium"/>
              <a:cs typeface="Google Sans Flex Medium"/>
              <a:sym typeface="Google Sans Flex Medium"/>
            </a:endParaRPr>
          </a:p>
        </p:txBody>
      </p:sp>
      <p:sp>
        <p:nvSpPr>
          <p:cNvPr id="120" name="TextBox 119"/>
          <p:cNvSpPr txBox="1"/>
          <p:nvPr/>
        </p:nvSpPr>
        <p:spPr>
          <a:xfrm>
            <a:off x="365760" y="1325880"/>
            <a:ext cx="8412480" cy="3383280"/>
          </a:xfrm>
          <a:prstGeom prst="rect">
            <a:avLst/>
          </a:prstGeom>
          <a:noFill/>
        </p:spPr>
        <p:txBody>
          <a:bodyPr wrap="square">
            <a:noAutofit/>
          </a:bodyPr>
          <a:lstStyle/>
          <a:p>
            <a:pPr>
              <a:spcBef>
                <a:spcPts val="700"/>
              </a:spcBef>
              <a:spcAft>
                <a:spcPts val="200"/>
              </a:spcAft>
            </a:pPr>
            <a:r>
              <a:rPr sz="1350" b="1">
                <a:solidFill>
                  <a:srgbClr val="056F9E"/>
                </a:solidFill>
                <a:latin typeface="Google Sans Flex Medium"/>
              </a:rPr>
              <a:t>Google Cloud and AI</a:t>
            </a:r>
          </a:p>
          <a:p>
            <a:pPr>
              <a:spcBef>
                <a:spcPts val="0"/>
              </a:spcBef>
              <a:spcAft>
                <a:spcPts val="400"/>
              </a:spcAft>
            </a:pPr>
            <a:r>
              <a:rPr sz="1250" b="0">
                <a:solidFill>
                  <a:srgbClr val="262A2E"/>
                </a:solidFill>
                <a:latin typeface="Google Sans Flex Medium"/>
              </a:rPr>
              <a:t>•  Cloud Run, Cloud Build, Pub/Sub, Cloud Scheduler, Vertex AI (optional), Gemini</a:t>
            </a:r>
          </a:p>
          <a:p>
            <a:pPr>
              <a:spcBef>
                <a:spcPts val="0"/>
              </a:spcBef>
              <a:spcAft>
                <a:spcPts val="400"/>
              </a:spcAft>
            </a:pPr>
            <a:r>
              <a:rPr sz="1250" b="0">
                <a:solidFill>
                  <a:srgbClr val="262A2E"/>
                </a:solidFill>
                <a:latin typeface="Google Sans Flex Medium"/>
              </a:rPr>
              <a:t>•  Google Weather API, Google Air Quality API, Google Maps Platform</a:t>
            </a:r>
          </a:p>
          <a:p>
            <a:pPr>
              <a:spcBef>
                <a:spcPts val="700"/>
              </a:spcBef>
              <a:spcAft>
                <a:spcPts val="200"/>
              </a:spcAft>
            </a:pPr>
            <a:r>
              <a:rPr sz="1350" b="1">
                <a:solidFill>
                  <a:srgbClr val="056F9E"/>
                </a:solidFill>
                <a:latin typeface="Google Sans Flex Medium"/>
              </a:rPr>
              <a:t>Engine and backend</a:t>
            </a:r>
          </a:p>
          <a:p>
            <a:pPr>
              <a:spcBef>
                <a:spcPts val="0"/>
              </a:spcBef>
              <a:spcAft>
                <a:spcPts val="400"/>
              </a:spcAft>
            </a:pPr>
            <a:r>
              <a:rPr sz="1250" b="0">
                <a:solidFill>
                  <a:srgbClr val="262A2E"/>
                </a:solidFill>
                <a:latin typeface="Google Sans Flex Medium"/>
              </a:rPr>
              <a:t>•  Python, FastAPI, Uvicorn, rasterio, numba, pyogrio, shapely</a:t>
            </a:r>
          </a:p>
          <a:p>
            <a:pPr>
              <a:spcBef>
                <a:spcPts val="700"/>
              </a:spcBef>
              <a:spcAft>
                <a:spcPts val="200"/>
              </a:spcAft>
            </a:pPr>
            <a:r>
              <a:rPr sz="1350" b="1">
                <a:solidFill>
                  <a:srgbClr val="056F9E"/>
                </a:solidFill>
                <a:latin typeface="Google Sans Flex Medium"/>
              </a:rPr>
              <a:t>Agent interoperability</a:t>
            </a:r>
          </a:p>
          <a:p>
            <a:pPr>
              <a:spcBef>
                <a:spcPts val="0"/>
              </a:spcBef>
              <a:spcAft>
                <a:spcPts val="400"/>
              </a:spcAft>
            </a:pPr>
            <a:r>
              <a:rPr sz="1250" b="0">
                <a:solidFill>
                  <a:srgbClr val="262A2E"/>
                </a:solidFill>
                <a:latin typeface="Google Sans Flex Medium"/>
              </a:rPr>
              <a:t>•  Model Context Protocol (MCP), Agent2Agent (A2A), both hand-rolled over JSON-RPC 2.0</a:t>
            </a:r>
          </a:p>
          <a:p>
            <a:pPr>
              <a:spcBef>
                <a:spcPts val="700"/>
              </a:spcBef>
              <a:spcAft>
                <a:spcPts val="200"/>
              </a:spcAft>
            </a:pPr>
            <a:r>
              <a:rPr sz="1350" b="1">
                <a:solidFill>
                  <a:srgbClr val="056F9E"/>
                </a:solidFill>
                <a:latin typeface="Google Sans Flex Medium"/>
              </a:rPr>
              <a:t>Open data</a:t>
            </a:r>
          </a:p>
          <a:p>
            <a:pPr>
              <a:spcBef>
                <a:spcPts val="0"/>
              </a:spcBef>
              <a:spcAft>
                <a:spcPts val="400"/>
              </a:spcAft>
            </a:pPr>
            <a:r>
              <a:rPr sz="1250" b="0">
                <a:solidFill>
                  <a:srgbClr val="262A2E"/>
                </a:solidFill>
                <a:latin typeface="Google Sans Flex Medium"/>
              </a:rPr>
              <a:t>•  DeltaDTM (DEM), OpenStreetMap, GHS-POP, KSDMA flood maps, Landsat, GDELT news index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22"/>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Estimated implementation cost</a:t>
            </a:r>
            <a:endParaRPr sz="1600" dirty="0">
              <a:latin typeface="Google Sans Flex Medium"/>
              <a:ea typeface="Google Sans Flex Medium"/>
              <a:cs typeface="Google Sans Flex Medium"/>
              <a:sym typeface="Google Sans Flex Medium"/>
            </a:endParaRPr>
          </a:p>
        </p:txBody>
      </p:sp>
      <p:sp>
        <p:nvSpPr>
          <p:cNvPr id="128" name="TextBox 127"/>
          <p:cNvSpPr txBox="1"/>
          <p:nvPr/>
        </p:nvSpPr>
        <p:spPr>
          <a:xfrm>
            <a:off x="365760" y="1325880"/>
            <a:ext cx="8412480" cy="3383280"/>
          </a:xfrm>
          <a:prstGeom prst="rect">
            <a:avLst/>
          </a:prstGeom>
          <a:noFill/>
        </p:spPr>
        <p:txBody>
          <a:bodyPr wrap="square">
            <a:noAutofit/>
          </a:bodyPr>
          <a:lstStyle/>
          <a:p>
            <a:pPr>
              <a:spcBef>
                <a:spcPts val="0"/>
              </a:spcBef>
              <a:spcAft>
                <a:spcPts val="400"/>
              </a:spcAft>
            </a:pPr>
            <a:r>
              <a:rPr sz="1300" b="0">
                <a:solidFill>
                  <a:srgbClr val="262A2E"/>
                </a:solidFill>
                <a:latin typeface="Google Sans Flex Medium"/>
              </a:rPr>
              <a:t>Runs on Google Cloud pay-as-you-go: Cloud Run (one always-on instance), Cloud Build, Pub/Sub, Cloud Scheduler, plus metered Google APIs (Weather, Air Quality, Maps).</a:t>
            </a:r>
          </a:p>
          <a:p>
            <a:pPr>
              <a:spcBef>
                <a:spcPts val="0"/>
              </a:spcBef>
              <a:spcAft>
                <a:spcPts val="400"/>
              </a:spcAft>
            </a:pPr>
            <a:r>
              <a:rPr sz="1300" b="0">
                <a:solidFill>
                  <a:srgbClr val="262A2E"/>
                </a:solidFill>
                <a:latin typeface="Google Sans Flex Medium"/>
              </a:rPr>
              <a:t>Staged region data (about 39 MB) is baked into the container image, so there is no storage or egress in the request path.</a:t>
            </a:r>
          </a:p>
          <a:p>
            <a:pPr>
              <a:spcBef>
                <a:spcPts val="0"/>
              </a:spcBef>
              <a:spcAft>
                <a:spcPts val="400"/>
              </a:spcAft>
            </a:pPr>
            <a:r>
              <a:rPr sz="1300" b="0">
                <a:solidFill>
                  <a:srgbClr val="262A2E"/>
                </a:solidFill>
                <a:latin typeface="Google Sans Flex Medium"/>
              </a:rPr>
              <a:t>For a single city this is on the order of a few US dollars per month. API cost falls to near zero when idle, with one warm instance kept so a live demo stays responsive.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Google Shape;135;p23"/>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fill_6.png"/>
          <p:cNvPicPr>
            <a:picLocks noChangeAspect="1"/>
          </p:cNvPicPr>
          <p:nvPr/>
        </p:nvPicPr>
        <p:blipFill>
          <a:blip r:embed="rId5"/>
          <a:stretch>
            <a:fillRect/>
          </a:stretch>
        </p:blipFill>
        <p:spPr>
          <a:xfrm>
            <a:off x="365760" y="1371600"/>
            <a:ext cx="4023360" cy="2534308"/>
          </a:xfrm>
          <a:prstGeom prst="rect">
            <a:avLst/>
          </a:prstGeom>
        </p:spPr>
      </p:pic>
      <p:sp>
        <p:nvSpPr>
          <p:cNvPr id="137" name="TextBox 136"/>
          <p:cNvSpPr txBox="1"/>
          <p:nvPr/>
        </p:nvSpPr>
        <p:spPr>
          <a:xfrm>
            <a:off x="365760" y="4370832"/>
            <a:ext cx="4023360" cy="457200"/>
          </a:xfrm>
          <a:prstGeom prst="rect">
            <a:avLst/>
          </a:prstGeom>
          <a:noFill/>
        </p:spPr>
        <p:txBody>
          <a:bodyPr wrap="square">
            <a:spAutoFit/>
          </a:bodyPr>
          <a:lstStyle/>
          <a:p>
            <a:pPr algn="ctr"/>
            <a:r>
              <a:rPr sz="1000" i="1">
                <a:solidFill>
                  <a:srgbClr val="262A2E"/>
                </a:solidFill>
                <a:latin typeface="Google Sans Flex Medium"/>
              </a:rPr>
              <a:t>Forecast time bar: the low spots fill and roads go under as rain accumulates</a:t>
            </a:r>
          </a:p>
        </p:txBody>
      </p:sp>
      <p:pic>
        <p:nvPicPr>
          <p:cNvPr id="138" name="Picture 137" descr="alerts_checked.png"/>
          <p:cNvPicPr>
            <a:picLocks noChangeAspect="1"/>
          </p:cNvPicPr>
          <p:nvPr/>
        </p:nvPicPr>
        <p:blipFill>
          <a:blip r:embed="rId6"/>
          <a:stretch>
            <a:fillRect/>
          </a:stretch>
        </p:blipFill>
        <p:spPr>
          <a:xfrm>
            <a:off x="4663440" y="1371600"/>
            <a:ext cx="4023360" cy="2377923"/>
          </a:xfrm>
          <a:prstGeom prst="rect">
            <a:avLst/>
          </a:prstGeom>
        </p:spPr>
      </p:pic>
      <p:sp>
        <p:nvSpPr>
          <p:cNvPr id="139" name="TextBox 138"/>
          <p:cNvSpPr txBox="1"/>
          <p:nvPr/>
        </p:nvSpPr>
        <p:spPr>
          <a:xfrm>
            <a:off x="4663440" y="4370832"/>
            <a:ext cx="4023360" cy="457200"/>
          </a:xfrm>
          <a:prstGeom prst="rect">
            <a:avLst/>
          </a:prstGeom>
          <a:noFill/>
        </p:spPr>
        <p:txBody>
          <a:bodyPr wrap="square">
            <a:spAutoFit/>
          </a:bodyPr>
          <a:lstStyle/>
          <a:p>
            <a:pPr algn="ctr"/>
            <a:r>
              <a:rPr sz="1000" i="1">
                <a:solidFill>
                  <a:srgbClr val="262A2E"/>
                </a:solidFill>
                <a:latin typeface="Google Sans Flex Medium"/>
              </a:rPr>
              <a:t>Event-driven preparation alerts, published to and read back from Pub/Sub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24"/>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65760" y="1298448"/>
            <a:ext cx="4224528" cy="3566160"/>
          </a:xfrm>
          <a:prstGeom prst="rect">
            <a:avLst/>
          </a:prstGeom>
          <a:noFill/>
        </p:spPr>
        <p:txBody>
          <a:bodyPr wrap="square">
            <a:noAutofit/>
          </a:bodyPr>
          <a:lstStyle/>
          <a:p>
            <a:pPr>
              <a:spcBef>
                <a:spcPts val="700"/>
              </a:spcBef>
              <a:spcAft>
                <a:spcPts val="200"/>
              </a:spcAft>
            </a:pPr>
            <a:r>
              <a:rPr sz="1050" b="1">
                <a:solidFill>
                  <a:srgbClr val="056F9E"/>
                </a:solidFill>
                <a:latin typeface="Google Sans Flex Medium"/>
              </a:rPr>
              <a:t>610 tests, all green</a:t>
            </a:r>
          </a:p>
          <a:p>
            <a:pPr>
              <a:spcBef>
                <a:spcPts val="0"/>
              </a:spcBef>
              <a:spcAft>
                <a:spcPts val="400"/>
              </a:spcAft>
            </a:pPr>
            <a:r>
              <a:rPr sz="950" b="0">
                <a:solidFill>
                  <a:srgbClr val="262A2E"/>
                </a:solidFill>
                <a:latin typeface="Google Sans Flex Medium"/>
              </a:rPr>
              <a:t>568 test functions across 33 files, expanding to 610 collected cases. All offline and deterministic: synthetic terrain with known answers, recorded provider fixtures, no network or model call in the suite. Counts below are functions.</a:t>
            </a:r>
          </a:p>
          <a:p>
            <a:pPr>
              <a:spcBef>
                <a:spcPts val="0"/>
              </a:spcBef>
              <a:spcAft>
                <a:spcPts val="400"/>
              </a:spcAft>
            </a:pPr>
            <a:r>
              <a:rPr sz="950" b="0">
                <a:solidFill>
                  <a:srgbClr val="262A2E"/>
                </a:solidFill>
                <a:latin typeface="Google Sans Flex Medium"/>
              </a:rPr>
              <a:t>•  Agent and honesty layer, about 240: question routing and refusals (72), multi-turn chat and named places (69), the pipeline and verifier (53), the MCP and A2A surface (20).</a:t>
            </a:r>
          </a:p>
          <a:p>
            <a:pPr>
              <a:spcBef>
                <a:spcPts val="0"/>
              </a:spcBef>
              <a:spcAft>
                <a:spcPts val="400"/>
              </a:spcAft>
            </a:pPr>
            <a:r>
              <a:rPr sz="950" b="0">
                <a:solidFill>
                  <a:srgbClr val="262A2E"/>
                </a:solidFill>
                <a:latin typeface="Google Sans Flex Medium"/>
              </a:rPr>
              <a:t>•  Terrain engine, about 67: fill-and-route hydrology on known DEMs (9), end-to-end screening (13), DEM despiking (6), road overlay (16), official flood-map comparison (10), 2024 Kochi storm replay (9).</a:t>
            </a:r>
          </a:p>
          <a:p>
            <a:pPr>
              <a:spcBef>
                <a:spcPts val="0"/>
              </a:spcBef>
              <a:spcAft>
                <a:spcPts val="400"/>
              </a:spcAft>
            </a:pPr>
            <a:r>
              <a:rPr sz="950" b="0">
                <a:solidFill>
                  <a:srgbClr val="262A2E"/>
                </a:solidFill>
                <a:latin typeface="Google Sans Flex Medium"/>
              </a:rPr>
              <a:t>•  Live-data adapters, about 59: forecast window and wettest-24h pick (29), weather grid (14), wind (12), observed rain gauges (4).</a:t>
            </a:r>
          </a:p>
          <a:p>
            <a:pPr>
              <a:spcBef>
                <a:spcPts val="0"/>
              </a:spcBef>
              <a:spcAft>
                <a:spcPts val="400"/>
              </a:spcAft>
            </a:pPr>
            <a:r>
              <a:rPr sz="950" b="0">
                <a:solidFill>
                  <a:srgbClr val="262A2E"/>
                </a:solidFill>
                <a:latin typeface="Google Sans Flex Medium"/>
              </a:rPr>
              <a:t>•  Other hazards, about 115: traffic-study bounds (35), earthquake shaking (21), Landsat surface heat (20), heat exposure vs published thresholds (28), air quality (11).</a:t>
            </a:r>
          </a:p>
          <a:p>
            <a:pPr>
              <a:spcBef>
                <a:spcPts val="0"/>
              </a:spcBef>
              <a:spcAft>
                <a:spcPts val="400"/>
              </a:spcAft>
            </a:pPr>
            <a:r>
              <a:rPr sz="950" b="0">
                <a:solidFill>
                  <a:srgbClr val="262A2E"/>
                </a:solidFill>
                <a:latin typeface="Google Sans Flex Medium"/>
              </a:rPr>
              <a:t>•  Exposure, about 31: GHS-POP population grid, density fields, people in the worst spots.</a:t>
            </a:r>
          </a:p>
          <a:p>
            <a:pPr>
              <a:spcBef>
                <a:spcPts val="0"/>
              </a:spcBef>
              <a:spcAft>
                <a:spcPts val="400"/>
              </a:spcAft>
            </a:pPr>
            <a:r>
              <a:rPr sz="950" b="0">
                <a:solidFill>
                  <a:srgbClr val="262A2E"/>
                </a:solidFill>
                <a:latin typeface="Google Sans Flex Medium"/>
              </a:rPr>
              <a:t>•  Planning and alerts, 36: budget-bounded preparations (27); Watcher thresholds and the Pub/Sub degrade-never-raise guard (9).</a:t>
            </a:r>
          </a:p>
          <a:p>
            <a:pPr>
              <a:spcBef>
                <a:spcPts val="0"/>
              </a:spcBef>
              <a:spcAft>
                <a:spcPts val="400"/>
              </a:spcAft>
            </a:pPr>
            <a:r>
              <a:rPr sz="950" b="0">
                <a:solidFill>
                  <a:srgbClr val="262A2E"/>
                </a:solidFill>
                <a:latin typeface="Google Sans Flex Medium"/>
              </a:rPr>
              <a:t>•  News, 18: GDELT fetch and cache, and that a headline never changes a figure.</a:t>
            </a:r>
          </a:p>
        </p:txBody>
      </p:sp>
      <p:sp>
        <p:nvSpPr>
          <p:cNvPr id="145" name="TextBox 144"/>
          <p:cNvSpPr txBox="1"/>
          <p:nvPr/>
        </p:nvSpPr>
        <p:spPr>
          <a:xfrm>
            <a:off x="4654296" y="1298448"/>
            <a:ext cx="4224528" cy="3566160"/>
          </a:xfrm>
          <a:prstGeom prst="rect">
            <a:avLst/>
          </a:prstGeom>
          <a:noFill/>
        </p:spPr>
        <p:txBody>
          <a:bodyPr wrap="square">
            <a:noAutofit/>
          </a:bodyPr>
          <a:lstStyle/>
          <a:p>
            <a:pPr>
              <a:spcBef>
                <a:spcPts val="700"/>
              </a:spcBef>
              <a:spcAft>
                <a:spcPts val="200"/>
              </a:spcAft>
            </a:pPr>
            <a:r>
              <a:rPr sz="1050" b="1">
                <a:solidFill>
                  <a:srgbClr val="056F9E"/>
                </a:solidFill>
                <a:latin typeface="Google Sans Flex Medium"/>
              </a:rPr>
              <a:t>Beyond the unit suite</a:t>
            </a:r>
          </a:p>
          <a:p>
            <a:pPr>
              <a:spcBef>
                <a:spcPts val="0"/>
              </a:spcBef>
              <a:spcAft>
                <a:spcPts val="400"/>
              </a:spcAft>
            </a:pPr>
            <a:r>
              <a:rPr sz="950" b="0">
                <a:solidFill>
                  <a:srgbClr val="262A2E"/>
                </a:solidFill>
                <a:latin typeface="Google Sans Flex Medium"/>
              </a:rPr>
              <a:t>•  Question battery: 98 random and adversarial questions driven through the real agent pipeline. Current result 0 errors, 0 withheld, 0 removed. Answers tightened from 4.6 to 1.5 paragraphs and 111 to 83 words.</a:t>
            </a:r>
          </a:p>
          <a:p>
            <a:pPr>
              <a:spcBef>
                <a:spcPts val="0"/>
              </a:spcBef>
              <a:spcAft>
                <a:spcPts val="400"/>
              </a:spcAft>
            </a:pPr>
            <a:r>
              <a:rPr sz="950" b="0">
                <a:solidFill>
                  <a:srgbClr val="262A2E"/>
                </a:solidFill>
                <a:latin typeface="Google Sans Flex Medium"/>
              </a:rPr>
              <a:t>•  What the verifier is proven to catch: any figure absent from the engine's facts bundle, hedging odds words such as “likely”, and the declined topics (water depth, timing, casualties, dispatch).</a:t>
            </a:r>
          </a:p>
          <a:p>
            <a:pPr>
              <a:spcBef>
                <a:spcPts val="0"/>
              </a:spcBef>
              <a:spcAft>
                <a:spcPts val="400"/>
              </a:spcAft>
            </a:pPr>
            <a:r>
              <a:rPr sz="950" b="0">
                <a:solidFill>
                  <a:srgbClr val="262A2E"/>
                </a:solidFill>
                <a:latin typeface="Google Sans Flex Medium"/>
              </a:rPr>
              <a:t>•  Verified live on Cloud Run: MCP initialize, tools/list and tools/call across 5 tools with out-of-range input refused as a tool error; the A2A agent card and message/send running the full pipeline; the Watcher to Pub/Sub to /api/alerts round-trip, 8 of 8 published and read back; Cloud Scheduler returning 200.</a:t>
            </a:r>
          </a:p>
          <a:p>
            <a:pPr>
              <a:spcBef>
                <a:spcPts val="0"/>
              </a:spcBef>
              <a:spcAft>
                <a:spcPts val="400"/>
              </a:spcAft>
            </a:pPr>
            <a:r>
              <a:rPr sz="950" b="0">
                <a:solidFill>
                  <a:srgbClr val="262A2E"/>
                </a:solidFill>
                <a:latin typeface="Google Sans Flex Medium"/>
              </a:rPr>
              <a:t>•  Headless-Chrome checks against the live site: map layers, and the forecast time bar filling 0, then 160, then 229 of 323 low spots as the rain accumulates, matching the summary exactly.</a:t>
            </a:r>
          </a:p>
          <a:p>
            <a:pPr>
              <a:spcBef>
                <a:spcPts val="0"/>
              </a:spcBef>
              <a:spcAft>
                <a:spcPts val="400"/>
              </a:spcAft>
            </a:pPr>
            <a:r>
              <a:rPr sz="950" b="0">
                <a:solidFill>
                  <a:srgbClr val="262A2E"/>
                </a:solidFill>
                <a:latin typeface="Google Sans Flex Medium"/>
              </a:rPr>
              <a:t>•  Measured, not assumed: Gemini flash path about 15 s end to end; Gemini 3.1-pro rejected at about 38 s median and rate-limited under load; Vertex AI measured 64 s and 395 s, so it is integrated but off. Service latency about 0.8 s warm, 8 s cold.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5"/>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365760" y="1325880"/>
            <a:ext cx="8412480" cy="3383280"/>
          </a:xfrm>
          <a:prstGeom prst="rect">
            <a:avLst/>
          </a:prstGeom>
          <a:noFill/>
        </p:spPr>
        <p:txBody>
          <a:bodyPr wrap="square">
            <a:noAutofit/>
          </a:bodyPr>
          <a:lstStyle/>
          <a:p>
            <a:pPr>
              <a:spcBef>
                <a:spcPts val="0"/>
              </a:spcBef>
              <a:spcAft>
                <a:spcPts val="400"/>
              </a:spcAft>
            </a:pPr>
            <a:r>
              <a:rPr sz="1300" b="0" dirty="0">
                <a:solidFill>
                  <a:srgbClr val="262A2E"/>
                </a:solidFill>
                <a:latin typeface="Google Sans Flex Medium"/>
              </a:rPr>
              <a:t>•  Opt-in notifications, so a resident can be told before it hits rather than after.</a:t>
            </a:r>
          </a:p>
          <a:p>
            <a:pPr>
              <a:spcBef>
                <a:spcPts val="0"/>
              </a:spcBef>
              <a:spcAft>
                <a:spcPts val="400"/>
              </a:spcAft>
            </a:pPr>
            <a:r>
              <a:rPr sz="1300" b="0" dirty="0">
                <a:solidFill>
                  <a:srgbClr val="262A2E"/>
                </a:solidFill>
                <a:latin typeface="Google Sans Flex Medium"/>
              </a:rPr>
              <a:t>•  More languages, so a plain-language answer is actually plain for everyone in the city.</a:t>
            </a:r>
          </a:p>
          <a:p>
            <a:pPr>
              <a:spcBef>
                <a:spcPts val="0"/>
              </a:spcBef>
              <a:spcAft>
                <a:spcPts val="400"/>
              </a:spcAft>
            </a:pPr>
            <a:r>
              <a:rPr sz="1300" b="0" dirty="0">
                <a:solidFill>
                  <a:srgbClr val="262A2E"/>
                </a:solidFill>
                <a:latin typeface="Google Sans Flex Medium"/>
              </a:rPr>
              <a:t>•  Extend the validated tier beyond Kochi</a:t>
            </a:r>
            <a:r>
              <a:rPr lang="en-US" sz="1300" b="0" dirty="0">
                <a:solidFill>
                  <a:srgbClr val="262A2E"/>
                </a:solidFill>
                <a:latin typeface="Google Sans Flex Medium"/>
              </a:rPr>
              <a:t> and Singapore</a:t>
            </a:r>
            <a:r>
              <a:rPr sz="1300" b="0" dirty="0">
                <a:solidFill>
                  <a:srgbClr val="262A2E"/>
                </a:solidFill>
                <a:latin typeface="Google Sans Flex Medium"/>
              </a:rPr>
              <a:t>, wherever an official depth map is published.</a:t>
            </a:r>
          </a:p>
          <a:p>
            <a:pPr>
              <a:spcBef>
                <a:spcPts val="0"/>
              </a:spcBef>
              <a:spcAft>
                <a:spcPts val="400"/>
              </a:spcAft>
            </a:pPr>
            <a:r>
              <a:rPr sz="1300" b="0" dirty="0">
                <a:solidFill>
                  <a:srgbClr val="262A2E"/>
                </a:solidFill>
                <a:latin typeface="Google Sans Flex Medium"/>
              </a:rPr>
              <a:t>•  Ingest live rain-gauge feeds where they are open (NEA is wired for Singapore; </a:t>
            </a:r>
            <a:r>
              <a:rPr sz="1300" b="0" dirty="0" err="1">
                <a:solidFill>
                  <a:srgbClr val="262A2E"/>
                </a:solidFill>
                <a:latin typeface="Google Sans Flex Medium"/>
              </a:rPr>
              <a:t>generalise</a:t>
            </a:r>
            <a:r>
              <a:rPr sz="1300" b="0" dirty="0">
                <a:solidFill>
                  <a:srgbClr val="262A2E"/>
                </a:solidFill>
                <a:latin typeface="Google Sans Flex Medium"/>
              </a:rPr>
              <a:t> it).</a:t>
            </a:r>
          </a:p>
          <a:p>
            <a:pPr>
              <a:spcBef>
                <a:spcPts val="0"/>
              </a:spcBef>
              <a:spcAft>
                <a:spcPts val="400"/>
              </a:spcAft>
            </a:pPr>
            <a:r>
              <a:rPr sz="1300" b="0" dirty="0">
                <a:solidFill>
                  <a:srgbClr val="262A2E"/>
                </a:solidFill>
                <a:latin typeface="Google Sans Flex Medium"/>
              </a:rPr>
              <a:t>•  Add drainage-network data where public, to reduce the deliberate over-prediction.</a:t>
            </a:r>
          </a:p>
          <a:p>
            <a:pPr>
              <a:spcBef>
                <a:spcPts val="0"/>
              </a:spcBef>
              <a:spcAft>
                <a:spcPts val="400"/>
              </a:spcAft>
            </a:pPr>
            <a:r>
              <a:rPr sz="1300" b="0" dirty="0">
                <a:solidFill>
                  <a:srgbClr val="262A2E"/>
                </a:solidFill>
                <a:latin typeface="Google Sans Flex Medium"/>
              </a:rPr>
              <a:t>•  Register the A2A agent in Agent Registry / Gemini Enterprise.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26"/>
          <p:cNvSpPr txBox="1"/>
          <p:nvPr/>
        </p:nvSpPr>
        <p:spPr>
          <a:xfrm>
            <a:off x="201000" y="1672647"/>
            <a:ext cx="8943000" cy="133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a:p>
            <a:pPr marL="457200" lvl="0" indent="-317500">
              <a:buSzPts val="1400"/>
              <a:buFont typeface="Google Sans Flex Medium"/>
              <a:buChar char="●"/>
            </a:pPr>
            <a:r>
              <a:rPr lang="en-GB" dirty="0">
                <a:latin typeface="Google Sans Flex Medium"/>
                <a:ea typeface="Google Sans Flex Medium"/>
                <a:cs typeface="Google Sans Flex Medium"/>
                <a:sym typeface="Google Sans Flex Medium"/>
              </a:rPr>
              <a:t>GitHub Public Repository</a:t>
            </a:r>
            <a:r>
              <a:rPr dirty="0">
                <a:solidFill>
                  <a:srgbClr val="262A2E"/>
                </a:solidFill>
                <a:latin typeface="Google Sans Flex Medium"/>
              </a:rPr>
              <a:t> : </a:t>
            </a:r>
            <a:r>
              <a:rPr lang="en-US" dirty="0">
                <a:solidFill>
                  <a:srgbClr val="262A2E"/>
                </a:solidFill>
                <a:latin typeface="Google Sans Flex Medium"/>
                <a:hlinkClick r:id="rId5"/>
              </a:rPr>
              <a:t>https://github.com/anduriroshan/before-it-hits</a:t>
            </a:r>
            <a:endParaRPr lang="en-US" dirty="0">
              <a:solidFill>
                <a:srgbClr val="262A2E"/>
              </a:solidFill>
              <a:latin typeface="Google Sans Flex Medium"/>
            </a:endParaRPr>
          </a:p>
          <a:p>
            <a:pPr marL="457200" lvl="0" indent="-317500" algn="l" rtl="0">
              <a:spcBef>
                <a:spcPts val="0"/>
              </a:spcBef>
              <a:spcAft>
                <a:spcPts val="0"/>
              </a:spcAft>
              <a:buSzPts val="1400"/>
              <a:buFont typeface="Google Sans Flex Medium"/>
              <a:buChar char="●"/>
            </a:pPr>
            <a:r>
              <a:rPr lang="en-GB" dirty="0">
                <a:latin typeface="Google Sans Flex Medium"/>
                <a:ea typeface="Google Sans Flex Medium"/>
                <a:cs typeface="Google Sans Flex Medium"/>
                <a:sym typeface="Google Sans Flex Medium"/>
              </a:rPr>
              <a:t>Demo Video Link </a:t>
            </a:r>
            <a:r>
              <a:rPr dirty="0">
                <a:solidFill>
                  <a:srgbClr val="262A2E"/>
                </a:solidFill>
                <a:latin typeface="Google Sans Flex Medium"/>
              </a:rPr>
              <a:t>: </a:t>
            </a:r>
            <a:r>
              <a:rPr lang="en-US" dirty="0">
                <a:solidFill>
                  <a:srgbClr val="262A2E"/>
                </a:solidFill>
                <a:latin typeface="Google Sans Flex Medium"/>
                <a:hlinkClick r:id="rId6"/>
              </a:rPr>
              <a:t>https://youtu.be/dL2FW3YUnB8</a:t>
            </a:r>
            <a:endParaRPr lang="en-US" dirty="0">
              <a:solidFill>
                <a:srgbClr val="262A2E"/>
              </a:solidFill>
              <a:latin typeface="Google Sans Flex Medium"/>
            </a:endParaRPr>
          </a:p>
          <a:p>
            <a:pPr marL="457200" lvl="0" indent="-317500">
              <a:buSzPts val="1400"/>
              <a:buFont typeface="Google Sans Flex Medium"/>
              <a:buChar char="●"/>
            </a:pPr>
            <a:r>
              <a:rPr lang="en-GB" dirty="0">
                <a:latin typeface="Google Sans Flex Medium"/>
                <a:ea typeface="Google Sans Flex Medium"/>
                <a:cs typeface="Google Sans Flex Medium"/>
                <a:sym typeface="Google Sans Flex Medium"/>
              </a:rPr>
              <a:t>Final Product Link</a:t>
            </a:r>
            <a:r>
              <a:rPr dirty="0">
                <a:solidFill>
                  <a:srgbClr val="262A2E"/>
                </a:solidFill>
                <a:latin typeface="Google Sans Flex Medium"/>
              </a:rPr>
              <a:t> : </a:t>
            </a:r>
            <a:r>
              <a:rPr dirty="0">
                <a:solidFill>
                  <a:srgbClr val="262A2E"/>
                </a:solidFill>
                <a:latin typeface="Google Sans Flex Medium"/>
                <a:hlinkClick r:id="rId7"/>
              </a:rPr>
              <a:t>https://before-it-hits-z5r5gsxkza-el.a.run.app</a:t>
            </a:r>
            <a:endParaRPr dirty="0">
              <a:latin typeface="Google Sans Flex Medium"/>
              <a:ea typeface="Google Sans Flex Medium"/>
              <a:cs typeface="Google Sans Flex Medium"/>
              <a:sym typeface="Google Sans Flex Medium"/>
            </a:endParaRP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1997</Words>
  <Application>Microsoft Office PowerPoint</Application>
  <PresentationFormat>On-screen Show (16:9)</PresentationFormat>
  <Paragraphs>143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Google Sans Flex</vt:lpstr>
      <vt:lpstr>Arial</vt:lpstr>
      <vt:lpstr>Google Sans Flex SemiBold</vt:lpstr>
      <vt:lpstr>Google Sans Flex Medium</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Roshan, Anduri</cp:lastModifiedBy>
  <cp:revision>2</cp:revision>
  <dcterms:modified xsi:type="dcterms:W3CDTF">2026-10-17T12:22:13Z</dcterms:modified>
</cp:coreProperties>
</file>